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24" autoAdjust="0"/>
  </p:normalViewPr>
  <p:slideViewPr>
    <p:cSldViewPr>
      <p:cViewPr varScale="1">
        <p:scale>
          <a:sx n="78" d="100"/>
          <a:sy n="78" d="100"/>
        </p:scale>
        <p:origin x="854" y="7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5" d="100"/>
          <a:sy n="65" d="100"/>
        </p:scale>
        <p:origin x="3154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2DB80D-D8DC-40C9-8603-2D92EB853E85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72EF51-F63D-488E-9B3C-4A470AE4E6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EF2DC9-9E6B-4115-80F7-AF3C0B919820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B36BD8-3BE0-4B04-B520-77C1F1F1FB7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136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854199"/>
            <a:ext cx="9144000" cy="16557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25AD38-0796-B4A0-F437-8C37B4D1B9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7608" y="592088"/>
            <a:ext cx="7609140" cy="100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810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9085" y="1561876"/>
            <a:ext cx="10515600" cy="4531419"/>
          </a:xfrm>
        </p:spPr>
        <p:txBody>
          <a:bodyPr/>
          <a:lstStyle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C8CBE8F9-096B-48BD-AF91-C68E84B4AE0C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95400" y="6278770"/>
            <a:ext cx="1656183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368060C-F3A5-4600-9262-589A0797613D}" type="datetime1">
              <a:rPr lang="en-IN" smtClean="0"/>
              <a:pPr/>
              <a:t>04-10-2026</a:t>
            </a:fld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9B80BD04-4FB9-48ED-8F04-82E1E9B47D6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Course Name                                                                Faculty Name, Designation, Dept.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51A2048-2A34-7FBF-43D5-D3D3725F2AF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709" y="-243408"/>
            <a:ext cx="324964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04257EF-5910-55BD-B426-CB8A9D6AA20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56350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776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69367759-B4C6-4477-29E7-48E08870C81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709" y="-243408"/>
            <a:ext cx="324964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DBBF301A-453A-BED0-C53C-37286AA00C5A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95400" y="6278770"/>
            <a:ext cx="1656183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368060C-F3A5-4600-9262-589A0797613D}" type="datetime1">
              <a:rPr lang="en-IN" smtClean="0"/>
              <a:pPr/>
              <a:t>04-10-2026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1BBB8F58-91C5-AB5A-807E-19452F65565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Course Name                                                                Faculty Name, Designation, Dept.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119C11AA-4309-9F6B-48A3-24FE199327D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56350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079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3AD86-BCE5-402A-9A63-AC164DC60237}" type="datetime1">
              <a:rPr lang="en-IN" smtClean="0"/>
              <a:pPr/>
              <a:t>04-10-2026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Course Name                                                                Faculty Name, Designation, Dept.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6EF2E3-409D-4D76-AD02-397A36B0DAF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235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9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580EB9-55AB-0F80-2840-B5B224C89AD9}"/>
              </a:ext>
            </a:extLst>
          </p:cNvPr>
          <p:cNvSpPr txBox="1"/>
          <p:nvPr/>
        </p:nvSpPr>
        <p:spPr>
          <a:xfrm>
            <a:off x="3503712" y="1991286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rPr lang="en-IN" sz="4000" dirty="0">
                <a:solidFill>
                  <a:srgbClr val="002060"/>
                </a:solidFill>
              </a:rPr>
              <a:t>ADDRESS BOOK SYSTEM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B3F6DB-EB8A-1D14-E5E5-43F988847C80}"/>
              </a:ext>
            </a:extLst>
          </p:cNvPr>
          <p:cNvSpPr txBox="1"/>
          <p:nvPr/>
        </p:nvSpPr>
        <p:spPr>
          <a:xfrm>
            <a:off x="3359696" y="2696162"/>
            <a:ext cx="609600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0">
                <a:solidFill>
                  <a:srgbClr val="BECDDC"/>
                </a:solidFill>
                <a:latin typeface="Aptos"/>
              </a:defRPr>
            </a:pPr>
            <a:r>
              <a:rPr lang="en-IN" sz="19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Using C++ • Object-Oriented Programming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02E2F3-8670-78E4-8D27-232EE0E7A449}"/>
              </a:ext>
            </a:extLst>
          </p:cNvPr>
          <p:cNvSpPr txBox="1"/>
          <p:nvPr/>
        </p:nvSpPr>
        <p:spPr>
          <a:xfrm>
            <a:off x="3215680" y="3101557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z="2000" strike="noStrike" spc="-1" dirty="0">
                <a:solidFill>
                  <a:schemeClr val="bg2">
                    <a:lumMod val="10000"/>
                  </a:schemeClr>
                </a:solidFill>
                <a:latin typeface="Calibri"/>
              </a:rPr>
              <a:t>CAPSTONE PROJECT – REVIEW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870128-FCE3-3FD6-454C-2DED1161F4F6}"/>
              </a:ext>
            </a:extLst>
          </p:cNvPr>
          <p:cNvSpPr txBox="1"/>
          <p:nvPr/>
        </p:nvSpPr>
        <p:spPr>
          <a:xfrm>
            <a:off x="1199456" y="5064510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1E1E"/>
                </a:solidFill>
                <a:latin typeface="Georgia"/>
              </a:defRPr>
            </a:pPr>
            <a:r>
              <a:rPr lang="en-IN" sz="1800" dirty="0">
                <a:solidFill>
                  <a:schemeClr val="accent1">
                    <a:lumMod val="50000"/>
                  </a:schemeClr>
                </a:solidFill>
                <a:latin typeface="Times New Roman"/>
              </a:rPr>
              <a:t>LAKSHMI SRIKAR</a:t>
            </a:r>
            <a:br>
              <a:rPr lang="en-IN" sz="18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IN" sz="1800" dirty="0">
                <a:solidFill>
                  <a:schemeClr val="accent1">
                    <a:lumMod val="50000"/>
                  </a:schemeClr>
                </a:solidFill>
                <a:latin typeface="Times New Roman"/>
              </a:rPr>
              <a:t>CHINTA SANTOSH REDDY</a:t>
            </a:r>
            <a:br>
              <a:rPr lang="en-IN" sz="18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IN" sz="1800" dirty="0">
                <a:solidFill>
                  <a:schemeClr val="accent1">
                    <a:lumMod val="50000"/>
                  </a:schemeClr>
                </a:solidFill>
                <a:latin typeface="Times New Roman"/>
              </a:rPr>
              <a:t>NAKSHATRA CHAKRAM</a:t>
            </a:r>
            <a:br>
              <a:rPr lang="en-IN" sz="18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IN" sz="1800" dirty="0">
                <a:solidFill>
                  <a:schemeClr val="accent1">
                    <a:lumMod val="50000"/>
                  </a:schemeClr>
                </a:solidFill>
                <a:latin typeface="Times New Roman"/>
              </a:rPr>
              <a:t>CHOWDARY YASHWANTH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2FB27C-8D97-7657-E04E-082C0E7F401C}"/>
              </a:ext>
            </a:extLst>
          </p:cNvPr>
          <p:cNvSpPr txBox="1"/>
          <p:nvPr/>
        </p:nvSpPr>
        <p:spPr>
          <a:xfrm>
            <a:off x="-1752872" y="466440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strike="noStrike" spc="-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PRESENTED BY:</a:t>
            </a:r>
            <a:endParaRPr lang="en-US" sz="2000" b="0" strike="noStrike" spc="-1" dirty="0">
              <a:solidFill>
                <a:schemeClr val="accent1">
                  <a:lumMod val="5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5AD1A7-2E86-0DFB-5715-FC73104BEA1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0D160A-78AF-19C5-2308-D7A6BDE92B3F}"/>
              </a:ext>
            </a:extLst>
          </p:cNvPr>
          <p:cNvSpPr txBox="1"/>
          <p:nvPr/>
        </p:nvSpPr>
        <p:spPr>
          <a:xfrm>
            <a:off x="4511824" y="332656"/>
            <a:ext cx="41764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11F36"/>
                </a:solidFill>
                <a:latin typeface="Aptos"/>
              </a:defRPr>
            </a:pPr>
            <a:r>
              <a:rPr lang="en-IN" sz="3200" dirty="0">
                <a:solidFill>
                  <a:schemeClr val="accent1">
                    <a:lumMod val="50000"/>
                  </a:schemeClr>
                </a:solidFill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Project Overview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7D72BF9-CB6F-F063-F81B-493559CFED1F}"/>
              </a:ext>
            </a:extLst>
          </p:cNvPr>
          <p:cNvCxnSpPr>
            <a:cxnSpLocks/>
          </p:cNvCxnSpPr>
          <p:nvPr/>
        </p:nvCxnSpPr>
        <p:spPr>
          <a:xfrm>
            <a:off x="2783632" y="917431"/>
            <a:ext cx="7184557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A03C869-2C0F-2732-A306-0B2DCF1168CD}"/>
              </a:ext>
            </a:extLst>
          </p:cNvPr>
          <p:cNvSpPr txBox="1"/>
          <p:nvPr/>
        </p:nvSpPr>
        <p:spPr>
          <a:xfrm>
            <a:off x="407368" y="1196752"/>
            <a:ext cx="920164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11F36"/>
                </a:solidFill>
                <a:latin typeface="Aptos"/>
              </a:defRPr>
            </a:pPr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  <a:ea typeface="Artifakt Element Book" panose="020B0503050000020004" pitchFamily="34" charset="0"/>
              </a:rPr>
              <a:t>A practical C++ solution for organized contact management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EA3C0F-CECE-7CDA-AC69-2F1A11E581F3}"/>
              </a:ext>
            </a:extLst>
          </p:cNvPr>
          <p:cNvSpPr txBox="1"/>
          <p:nvPr/>
        </p:nvSpPr>
        <p:spPr>
          <a:xfrm>
            <a:off x="1633232" y="1772816"/>
            <a:ext cx="9201644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3748"/>
                </a:solidFill>
                <a:latin typeface="Aptos"/>
              </a:defRPr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The Address Book System is a menu-driven console application designed to store, organize, search and manage contact information efficiently.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2E22D54-F34D-2877-EB31-C200BB0B343E}"/>
              </a:ext>
            </a:extLst>
          </p:cNvPr>
          <p:cNvGrpSpPr/>
          <p:nvPr/>
        </p:nvGrpSpPr>
        <p:grpSpPr>
          <a:xfrm>
            <a:off x="3287688" y="2763693"/>
            <a:ext cx="2240280" cy="960120"/>
            <a:chOff x="571666" y="2747691"/>
            <a:chExt cx="2240280" cy="960120"/>
          </a:xfrm>
        </p:grpSpPr>
        <p:sp>
          <p:nvSpPr>
            <p:cNvPr id="13" name="Rounded Rectangle 16">
              <a:extLst>
                <a:ext uri="{FF2B5EF4-FFF2-40B4-BE49-F238E27FC236}">
                  <a16:creationId xmlns:a16="http://schemas.microsoft.com/office/drawing/2014/main" id="{62220D99-1196-69B5-C95F-3DB6C2F43148}"/>
                </a:ext>
              </a:extLst>
            </p:cNvPr>
            <p:cNvSpPr/>
            <p:nvPr/>
          </p:nvSpPr>
          <p:spPr>
            <a:xfrm>
              <a:off x="571666" y="2747691"/>
              <a:ext cx="2240280" cy="96012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1E5E6B6-E19A-B416-068A-70AD9BA8C0D6}"/>
                </a:ext>
              </a:extLst>
            </p:cNvPr>
            <p:cNvSpPr txBox="1"/>
            <p:nvPr/>
          </p:nvSpPr>
          <p:spPr>
            <a:xfrm>
              <a:off x="700662" y="2864700"/>
              <a:ext cx="874085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>
                <a:defRPr sz="1400" b="1">
                  <a:solidFill>
                    <a:srgbClr val="111F36"/>
                  </a:solidFill>
                  <a:latin typeface="Aptos"/>
                </a:defRPr>
              </a:pPr>
              <a:r>
                <a:rPr dirty="0"/>
                <a:t>SEARCH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E11E84D-4D82-4848-3519-8234456A8BA5}"/>
                </a:ext>
              </a:extLst>
            </p:cNvPr>
            <p:cNvSpPr txBox="1"/>
            <p:nvPr/>
          </p:nvSpPr>
          <p:spPr>
            <a:xfrm>
              <a:off x="819195" y="3163827"/>
              <a:ext cx="1909497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>
                <a:defRPr sz="1100" b="0">
                  <a:solidFill>
                    <a:srgbClr val="2D3748"/>
                  </a:solidFill>
                  <a:latin typeface="Aptos"/>
                </a:defRPr>
              </a:pPr>
              <a:r>
                <a:rPr sz="1400" dirty="0"/>
                <a:t>Name • Phone • Email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25A6C46-752A-477D-41FC-F59166B58014}"/>
              </a:ext>
            </a:extLst>
          </p:cNvPr>
          <p:cNvGrpSpPr/>
          <p:nvPr/>
        </p:nvGrpSpPr>
        <p:grpSpPr>
          <a:xfrm>
            <a:off x="649119" y="2770912"/>
            <a:ext cx="2240280" cy="960120"/>
            <a:chOff x="6285286" y="2871216"/>
            <a:chExt cx="2240280" cy="960120"/>
          </a:xfrm>
        </p:grpSpPr>
        <p:sp>
          <p:nvSpPr>
            <p:cNvPr id="18" name="Rounded Rectangle 8">
              <a:extLst>
                <a:ext uri="{FF2B5EF4-FFF2-40B4-BE49-F238E27FC236}">
                  <a16:creationId xmlns:a16="http://schemas.microsoft.com/office/drawing/2014/main" id="{11C23807-3D7C-E8FA-17C2-84B71C243941}"/>
                </a:ext>
              </a:extLst>
            </p:cNvPr>
            <p:cNvSpPr/>
            <p:nvPr/>
          </p:nvSpPr>
          <p:spPr>
            <a:xfrm>
              <a:off x="6285286" y="2871216"/>
              <a:ext cx="2240280" cy="96012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81509C8-00F6-DFF6-C8D4-5373B9C1D708}"/>
                </a:ext>
              </a:extLst>
            </p:cNvPr>
            <p:cNvSpPr txBox="1"/>
            <p:nvPr/>
          </p:nvSpPr>
          <p:spPr>
            <a:xfrm>
              <a:off x="6317600" y="2979575"/>
              <a:ext cx="1433277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>
                <a:defRPr sz="1400" b="1">
                  <a:solidFill>
                    <a:srgbClr val="111F36"/>
                  </a:solidFill>
                  <a:latin typeface="Aptos"/>
                </a:defRPr>
              </a:pPr>
              <a:r>
                <a:rPr dirty="0"/>
                <a:t>CONTACT DATA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A28E78F-8E22-761A-AC45-0AEDECA19602}"/>
                </a:ext>
              </a:extLst>
            </p:cNvPr>
            <p:cNvSpPr txBox="1"/>
            <p:nvPr/>
          </p:nvSpPr>
          <p:spPr>
            <a:xfrm>
              <a:off x="6502707" y="3292054"/>
              <a:ext cx="1909497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>
                <a:defRPr sz="1100" b="0">
                  <a:solidFill>
                    <a:srgbClr val="2D3748"/>
                  </a:solidFill>
                  <a:latin typeface="Aptos"/>
                </a:defRPr>
              </a:pPr>
              <a:r>
                <a:rPr sz="1400" dirty="0"/>
                <a:t>Name • Phone • Email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6E12A73-54D1-14FF-725C-38B7BACD1015}"/>
              </a:ext>
            </a:extLst>
          </p:cNvPr>
          <p:cNvGrpSpPr/>
          <p:nvPr/>
        </p:nvGrpSpPr>
        <p:grpSpPr>
          <a:xfrm>
            <a:off x="8656266" y="2763693"/>
            <a:ext cx="2331720" cy="960120"/>
            <a:chOff x="8825374" y="3005058"/>
            <a:chExt cx="2331720" cy="960120"/>
          </a:xfrm>
        </p:grpSpPr>
        <p:sp>
          <p:nvSpPr>
            <p:cNvPr id="23" name="Rounded Rectangle 20">
              <a:extLst>
                <a:ext uri="{FF2B5EF4-FFF2-40B4-BE49-F238E27FC236}">
                  <a16:creationId xmlns:a16="http://schemas.microsoft.com/office/drawing/2014/main" id="{D54448CC-4797-9048-A597-66BF4851EE69}"/>
                </a:ext>
              </a:extLst>
            </p:cNvPr>
            <p:cNvSpPr/>
            <p:nvPr/>
          </p:nvSpPr>
          <p:spPr>
            <a:xfrm>
              <a:off x="8825374" y="3005058"/>
              <a:ext cx="2331720" cy="96012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A9DE4EC-3728-9AAE-3FD9-244E4A72C5E5}"/>
                </a:ext>
              </a:extLst>
            </p:cNvPr>
            <p:cNvSpPr txBox="1"/>
            <p:nvPr/>
          </p:nvSpPr>
          <p:spPr>
            <a:xfrm>
              <a:off x="8922194" y="3122066"/>
              <a:ext cx="602986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>
                <a:defRPr sz="1400" b="1">
                  <a:solidFill>
                    <a:srgbClr val="111F36"/>
                  </a:solidFill>
                  <a:latin typeface="Aptos"/>
                </a:defRPr>
              </a:pPr>
              <a:r>
                <a:rPr dirty="0"/>
                <a:t>DATA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DC7EC08-DAE0-B77D-2C93-BF4EA790DDB3}"/>
                </a:ext>
              </a:extLst>
            </p:cNvPr>
            <p:cNvSpPr txBox="1"/>
            <p:nvPr/>
          </p:nvSpPr>
          <p:spPr>
            <a:xfrm>
              <a:off x="9102236" y="3425720"/>
              <a:ext cx="1696555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>
                <a:defRPr sz="1100" b="0">
                  <a:solidFill>
                    <a:srgbClr val="2D3748"/>
                  </a:solidFill>
                  <a:latin typeface="Aptos"/>
                </a:defRPr>
              </a:pPr>
              <a:r>
                <a:rPr sz="1400" dirty="0"/>
                <a:t>File • Backup • CSV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DD0010F-688A-DDC6-436D-39D7FC119FCB}"/>
              </a:ext>
            </a:extLst>
          </p:cNvPr>
          <p:cNvGrpSpPr/>
          <p:nvPr/>
        </p:nvGrpSpPr>
        <p:grpSpPr>
          <a:xfrm>
            <a:off x="5926257" y="2763693"/>
            <a:ext cx="2331720" cy="960120"/>
            <a:chOff x="4950873" y="4950781"/>
            <a:chExt cx="2331720" cy="960120"/>
          </a:xfrm>
        </p:grpSpPr>
        <p:sp>
          <p:nvSpPr>
            <p:cNvPr id="28" name="Rounded Rectangle 12">
              <a:extLst>
                <a:ext uri="{FF2B5EF4-FFF2-40B4-BE49-F238E27FC236}">
                  <a16:creationId xmlns:a16="http://schemas.microsoft.com/office/drawing/2014/main" id="{61A003F7-3991-3031-BE71-6CCB2E421B86}"/>
                </a:ext>
              </a:extLst>
            </p:cNvPr>
            <p:cNvSpPr/>
            <p:nvPr/>
          </p:nvSpPr>
          <p:spPr>
            <a:xfrm>
              <a:off x="4950873" y="4950781"/>
              <a:ext cx="2331720" cy="96012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9733B91-5364-4795-75E5-63A61690BAA0}"/>
                </a:ext>
              </a:extLst>
            </p:cNvPr>
            <p:cNvSpPr txBox="1"/>
            <p:nvPr/>
          </p:nvSpPr>
          <p:spPr>
            <a:xfrm>
              <a:off x="5115465" y="5087940"/>
              <a:ext cx="1454244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>
                <a:defRPr sz="1400" b="1">
                  <a:solidFill>
                    <a:srgbClr val="111F36"/>
                  </a:solidFill>
                  <a:latin typeface="Aptos"/>
                </a:defRPr>
              </a:pPr>
              <a:r>
                <a:rPr dirty="0"/>
                <a:t>ORGANIZATION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3834EE6-02CD-C0DA-CAFC-A9D2BFC551B0}"/>
                </a:ext>
              </a:extLst>
            </p:cNvPr>
            <p:cNvSpPr txBox="1"/>
            <p:nvPr/>
          </p:nvSpPr>
          <p:spPr>
            <a:xfrm>
              <a:off x="5284485" y="5395717"/>
              <a:ext cx="1664495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>
                <a:defRPr sz="1100" b="0">
                  <a:solidFill>
                    <a:srgbClr val="2D3748"/>
                  </a:solidFill>
                  <a:latin typeface="Aptos"/>
                </a:defRPr>
              </a:pPr>
              <a:r>
                <a:rPr sz="1400" dirty="0"/>
                <a:t>Category • Favorite</a:t>
              </a: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66F3FE01-52BC-2A81-D725-E8B20872C5CF}"/>
              </a:ext>
            </a:extLst>
          </p:cNvPr>
          <p:cNvSpPr txBox="1"/>
          <p:nvPr/>
        </p:nvSpPr>
        <p:spPr>
          <a:xfrm>
            <a:off x="180695" y="4248872"/>
            <a:ext cx="62139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670BE"/>
                </a:solidFill>
                <a:latin typeface="Aptos"/>
              </a:defRPr>
            </a:pPr>
            <a:r>
              <a:rPr lang="en-IN" sz="2000" dirty="0">
                <a:solidFill>
                  <a:schemeClr val="accent1">
                    <a:lumMod val="50000"/>
                  </a:schemeClr>
                </a:solidFill>
                <a:latin typeface="Artifakt Element Book" panose="020B0503050000020004" pitchFamily="34" charset="0"/>
                <a:ea typeface="Artifakt Element Book" panose="020B0503050000020004" pitchFamily="34" charset="0"/>
              </a:rPr>
              <a:t>FINAL SYSTEM CAPABILITIES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6276566A-F479-E052-D3E1-67A8ABAEC656}"/>
              </a:ext>
            </a:extLst>
          </p:cNvPr>
          <p:cNvGrpSpPr/>
          <p:nvPr/>
        </p:nvGrpSpPr>
        <p:grpSpPr>
          <a:xfrm>
            <a:off x="1321170" y="4890676"/>
            <a:ext cx="2066266" cy="418213"/>
            <a:chOff x="180696" y="4874305"/>
            <a:chExt cx="2066266" cy="418213"/>
          </a:xfrm>
        </p:grpSpPr>
        <p:sp>
          <p:nvSpPr>
            <p:cNvPr id="39" name="Rounded Rectangle 25">
              <a:extLst>
                <a:ext uri="{FF2B5EF4-FFF2-40B4-BE49-F238E27FC236}">
                  <a16:creationId xmlns:a16="http://schemas.microsoft.com/office/drawing/2014/main" id="{C587553F-E953-5BED-B7DE-2C1CAB1CD9AC}"/>
                </a:ext>
              </a:extLst>
            </p:cNvPr>
            <p:cNvSpPr/>
            <p:nvPr/>
          </p:nvSpPr>
          <p:spPr>
            <a:xfrm>
              <a:off x="180696" y="4874305"/>
              <a:ext cx="2066266" cy="418213"/>
            </a:xfrm>
            <a:prstGeom prst="roundRect">
              <a:avLst/>
            </a:prstGeom>
            <a:solidFill>
              <a:srgbClr val="F4F7FA"/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33DD6B4-8C64-3AB3-B336-28ED2889A7E6}"/>
                </a:ext>
              </a:extLst>
            </p:cNvPr>
            <p:cNvSpPr txBox="1"/>
            <p:nvPr/>
          </p:nvSpPr>
          <p:spPr>
            <a:xfrm>
              <a:off x="359797" y="4956908"/>
              <a:ext cx="1560364" cy="27699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900" b="1">
                  <a:solidFill>
                    <a:srgbClr val="2670BE"/>
                  </a:solidFill>
                  <a:latin typeface="Aptos"/>
                </a:defRPr>
              </a:pPr>
              <a:r>
                <a:rPr sz="1200" dirty="0">
                  <a:solidFill>
                    <a:schemeClr val="accent1">
                      <a:lumMod val="50000"/>
                    </a:schemeClr>
                  </a:solidFill>
                </a:rPr>
                <a:t>CRUD OPERATIONS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7CC161F8-2A0B-9CC5-86D7-EB0EDAB8A7BA}"/>
              </a:ext>
            </a:extLst>
          </p:cNvPr>
          <p:cNvGrpSpPr/>
          <p:nvPr/>
        </p:nvGrpSpPr>
        <p:grpSpPr>
          <a:xfrm>
            <a:off x="3714237" y="4886025"/>
            <a:ext cx="2066266" cy="418213"/>
            <a:chOff x="2360135" y="4858647"/>
            <a:chExt cx="2066266" cy="418213"/>
          </a:xfrm>
        </p:grpSpPr>
        <p:sp>
          <p:nvSpPr>
            <p:cNvPr id="52" name="Rounded Rectangle 25">
              <a:extLst>
                <a:ext uri="{FF2B5EF4-FFF2-40B4-BE49-F238E27FC236}">
                  <a16:creationId xmlns:a16="http://schemas.microsoft.com/office/drawing/2014/main" id="{8E8241AD-0B8C-B3F6-0F9C-79E96525642D}"/>
                </a:ext>
              </a:extLst>
            </p:cNvPr>
            <p:cNvSpPr/>
            <p:nvPr/>
          </p:nvSpPr>
          <p:spPr>
            <a:xfrm>
              <a:off x="2360135" y="4858647"/>
              <a:ext cx="2066266" cy="418213"/>
            </a:xfrm>
            <a:prstGeom prst="roundRect">
              <a:avLst/>
            </a:prstGeom>
            <a:solidFill>
              <a:srgbClr val="F4F7FA"/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468FBBA-9EDB-8F95-FD1C-C8A791964BF0}"/>
                </a:ext>
              </a:extLst>
            </p:cNvPr>
            <p:cNvSpPr txBox="1"/>
            <p:nvPr/>
          </p:nvSpPr>
          <p:spPr>
            <a:xfrm>
              <a:off x="2655419" y="4926130"/>
              <a:ext cx="1512337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900" b="1">
                  <a:solidFill>
                    <a:srgbClr val="1FA4B4"/>
                  </a:solidFill>
                  <a:latin typeface="Aptos"/>
                </a:defRPr>
              </a:pPr>
              <a:r>
                <a:rPr sz="1400" dirty="0">
                  <a:solidFill>
                    <a:schemeClr val="accent1">
                      <a:lumMod val="50000"/>
                    </a:schemeClr>
                  </a:solidFill>
                </a:rPr>
                <a:t>SEARCH &amp; SORT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9B9FE975-BD54-8080-1C11-9C35B39F0278}"/>
              </a:ext>
            </a:extLst>
          </p:cNvPr>
          <p:cNvGrpSpPr/>
          <p:nvPr/>
        </p:nvGrpSpPr>
        <p:grpSpPr>
          <a:xfrm>
            <a:off x="6165468" y="4886025"/>
            <a:ext cx="2066266" cy="418213"/>
            <a:chOff x="4539574" y="4860025"/>
            <a:chExt cx="2066266" cy="418213"/>
          </a:xfrm>
        </p:grpSpPr>
        <p:sp>
          <p:nvSpPr>
            <p:cNvPr id="54" name="Rounded Rectangle 25">
              <a:extLst>
                <a:ext uri="{FF2B5EF4-FFF2-40B4-BE49-F238E27FC236}">
                  <a16:creationId xmlns:a16="http://schemas.microsoft.com/office/drawing/2014/main" id="{68CBD96D-A24A-00E6-7ED6-AD5CAB834F55}"/>
                </a:ext>
              </a:extLst>
            </p:cNvPr>
            <p:cNvSpPr/>
            <p:nvPr/>
          </p:nvSpPr>
          <p:spPr>
            <a:xfrm>
              <a:off x="4539574" y="4860025"/>
              <a:ext cx="2066266" cy="418213"/>
            </a:xfrm>
            <a:prstGeom prst="roundRect">
              <a:avLst/>
            </a:prstGeom>
            <a:solidFill>
              <a:srgbClr val="F4F7FA"/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60215FE-E486-FF05-03C3-DB6FFDD71BD4}"/>
                </a:ext>
              </a:extLst>
            </p:cNvPr>
            <p:cNvSpPr txBox="1"/>
            <p:nvPr/>
          </p:nvSpPr>
          <p:spPr>
            <a:xfrm>
              <a:off x="4978327" y="4915242"/>
              <a:ext cx="1174745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900" b="1">
                  <a:solidFill>
                    <a:srgbClr val="24915D"/>
                  </a:solidFill>
                  <a:latin typeface="Aptos"/>
                </a:defRPr>
              </a:pPr>
              <a:r>
                <a:rPr sz="1400" dirty="0">
                  <a:solidFill>
                    <a:schemeClr val="accent1">
                      <a:lumMod val="50000"/>
                    </a:schemeClr>
                  </a:solidFill>
                </a:rPr>
                <a:t>VALIDATION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615B8F6-6382-537C-753A-1F55665E47AE}"/>
              </a:ext>
            </a:extLst>
          </p:cNvPr>
          <p:cNvGrpSpPr/>
          <p:nvPr/>
        </p:nvGrpSpPr>
        <p:grpSpPr>
          <a:xfrm>
            <a:off x="8558535" y="4861793"/>
            <a:ext cx="2066266" cy="418213"/>
            <a:chOff x="6727417" y="4850776"/>
            <a:chExt cx="2066266" cy="418213"/>
          </a:xfrm>
        </p:grpSpPr>
        <p:sp>
          <p:nvSpPr>
            <p:cNvPr id="56" name="Rounded Rectangle 25">
              <a:extLst>
                <a:ext uri="{FF2B5EF4-FFF2-40B4-BE49-F238E27FC236}">
                  <a16:creationId xmlns:a16="http://schemas.microsoft.com/office/drawing/2014/main" id="{0C8C85F3-855D-F370-9C3F-E46E0D451A15}"/>
                </a:ext>
              </a:extLst>
            </p:cNvPr>
            <p:cNvSpPr/>
            <p:nvPr/>
          </p:nvSpPr>
          <p:spPr>
            <a:xfrm>
              <a:off x="6727417" y="4850776"/>
              <a:ext cx="2066266" cy="418213"/>
            </a:xfrm>
            <a:prstGeom prst="roundRect">
              <a:avLst/>
            </a:prstGeom>
            <a:solidFill>
              <a:srgbClr val="F4F7FA"/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E998D04-F3BD-1593-925F-43434AC29437}"/>
                </a:ext>
              </a:extLst>
            </p:cNvPr>
            <p:cNvSpPr txBox="1"/>
            <p:nvPr/>
          </p:nvSpPr>
          <p:spPr>
            <a:xfrm>
              <a:off x="7071633" y="4930227"/>
              <a:ext cx="1327864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900" b="1">
                  <a:solidFill>
                    <a:srgbClr val="2670BE"/>
                  </a:solidFill>
                  <a:latin typeface="Aptos"/>
                </a:defRPr>
              </a:pPr>
              <a:r>
                <a:rPr sz="1400" dirty="0">
                  <a:solidFill>
                    <a:schemeClr val="accent1">
                      <a:lumMod val="50000"/>
                    </a:schemeClr>
                  </a:solidFill>
                </a:rPr>
                <a:t>PERSISTENCE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D20AAF95-1BA3-3800-0E39-4C641543700D}"/>
              </a:ext>
            </a:extLst>
          </p:cNvPr>
          <p:cNvGrpSpPr/>
          <p:nvPr/>
        </p:nvGrpSpPr>
        <p:grpSpPr>
          <a:xfrm>
            <a:off x="3732556" y="5584316"/>
            <a:ext cx="2066266" cy="418213"/>
            <a:chOff x="2865497" y="5768007"/>
            <a:chExt cx="2066266" cy="418213"/>
          </a:xfrm>
        </p:grpSpPr>
        <p:sp>
          <p:nvSpPr>
            <p:cNvPr id="58" name="Rounded Rectangle 25">
              <a:extLst>
                <a:ext uri="{FF2B5EF4-FFF2-40B4-BE49-F238E27FC236}">
                  <a16:creationId xmlns:a16="http://schemas.microsoft.com/office/drawing/2014/main" id="{3F8EAB5D-D8FC-3862-5C59-7A96DE0227E2}"/>
                </a:ext>
              </a:extLst>
            </p:cNvPr>
            <p:cNvSpPr/>
            <p:nvPr/>
          </p:nvSpPr>
          <p:spPr>
            <a:xfrm>
              <a:off x="2865497" y="5768007"/>
              <a:ext cx="2066266" cy="418213"/>
            </a:xfrm>
            <a:prstGeom prst="roundRect">
              <a:avLst/>
            </a:prstGeom>
            <a:solidFill>
              <a:srgbClr val="F4F7FA"/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04D6235-964A-C52F-D6ED-7FE6A70BBA5E}"/>
                </a:ext>
              </a:extLst>
            </p:cNvPr>
            <p:cNvSpPr txBox="1"/>
            <p:nvPr/>
          </p:nvSpPr>
          <p:spPr>
            <a:xfrm>
              <a:off x="3464793" y="5809712"/>
              <a:ext cx="867673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900" b="1">
                  <a:solidFill>
                    <a:srgbClr val="1FA4B4"/>
                  </a:solidFill>
                  <a:latin typeface="Aptos"/>
                </a:defRPr>
              </a:pPr>
              <a:r>
                <a:rPr sz="1400" dirty="0">
                  <a:solidFill>
                    <a:schemeClr val="accent1">
                      <a:lumMod val="50000"/>
                    </a:schemeClr>
                  </a:solidFill>
                </a:rPr>
                <a:t>BACKUP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5F4A73BE-BAF9-F985-15B0-1C52C2593322}"/>
              </a:ext>
            </a:extLst>
          </p:cNvPr>
          <p:cNvGrpSpPr/>
          <p:nvPr/>
        </p:nvGrpSpPr>
        <p:grpSpPr>
          <a:xfrm>
            <a:off x="6165468" y="5557777"/>
            <a:ext cx="2066266" cy="418213"/>
            <a:chOff x="7525402" y="5775992"/>
            <a:chExt cx="2066266" cy="418213"/>
          </a:xfrm>
        </p:grpSpPr>
        <p:sp>
          <p:nvSpPr>
            <p:cNvPr id="64" name="Rounded Rectangle 25">
              <a:extLst>
                <a:ext uri="{FF2B5EF4-FFF2-40B4-BE49-F238E27FC236}">
                  <a16:creationId xmlns:a16="http://schemas.microsoft.com/office/drawing/2014/main" id="{FC64742C-7928-74EE-7F28-293FCB5998BC}"/>
                </a:ext>
              </a:extLst>
            </p:cNvPr>
            <p:cNvSpPr/>
            <p:nvPr/>
          </p:nvSpPr>
          <p:spPr>
            <a:xfrm>
              <a:off x="7525402" y="5775992"/>
              <a:ext cx="2066266" cy="418213"/>
            </a:xfrm>
            <a:prstGeom prst="roundRect">
              <a:avLst/>
            </a:prstGeom>
            <a:solidFill>
              <a:srgbClr val="F4F7FA"/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5551D4F-E30A-DD66-1B46-2F87A1B2A6EA}"/>
                </a:ext>
              </a:extLst>
            </p:cNvPr>
            <p:cNvSpPr txBox="1"/>
            <p:nvPr/>
          </p:nvSpPr>
          <p:spPr>
            <a:xfrm>
              <a:off x="7897877" y="5848184"/>
              <a:ext cx="1218988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900" b="1">
                  <a:solidFill>
                    <a:srgbClr val="24915D"/>
                  </a:solidFill>
                  <a:latin typeface="Aptos"/>
                </a:defRPr>
              </a:pPr>
              <a:r>
                <a:rPr sz="1400" dirty="0">
                  <a:solidFill>
                    <a:schemeClr val="accent1">
                      <a:lumMod val="50000"/>
                    </a:schemeClr>
                  </a:solidFill>
                </a:rPr>
                <a:t>CSV EXPORT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69675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74C990-E4DE-6614-2F83-946AA03BB68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AFF6A7-4B4E-DBF0-D494-4C155F0C48FE}"/>
              </a:ext>
            </a:extLst>
          </p:cNvPr>
          <p:cNvSpPr txBox="1"/>
          <p:nvPr/>
        </p:nvSpPr>
        <p:spPr>
          <a:xfrm>
            <a:off x="4007768" y="398783"/>
            <a:ext cx="6213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11F36"/>
                </a:solidFill>
                <a:latin typeface="Aptos"/>
              </a:defRPr>
            </a:pPr>
            <a:r>
              <a:rPr lang="en-IN" sz="3200" dirty="0">
                <a:solidFill>
                  <a:schemeClr val="accent1">
                    <a:lumMod val="50000"/>
                  </a:schemeClr>
                </a:solidFill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Problem Statement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35C2892-C987-296A-405D-3E8DF46BE35C}"/>
              </a:ext>
            </a:extLst>
          </p:cNvPr>
          <p:cNvCxnSpPr>
            <a:cxnSpLocks/>
          </p:cNvCxnSpPr>
          <p:nvPr/>
        </p:nvCxnSpPr>
        <p:spPr>
          <a:xfrm>
            <a:off x="2783632" y="1052736"/>
            <a:ext cx="7184557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2940A24-E0D0-77E3-5E21-02ED10EAC5C5}"/>
              </a:ext>
            </a:extLst>
          </p:cNvPr>
          <p:cNvSpPr txBox="1"/>
          <p:nvPr/>
        </p:nvSpPr>
        <p:spPr>
          <a:xfrm>
            <a:off x="479376" y="1848618"/>
            <a:ext cx="621398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111F36"/>
                </a:solidFill>
                <a:latin typeface="Aptos"/>
              </a:defRPr>
            </a:pPr>
            <a:r>
              <a:rPr lang="en-US" sz="2100" dirty="0">
                <a:solidFill>
                  <a:schemeClr val="accent1">
                    <a:lumMod val="50000"/>
                  </a:schemeClr>
                </a:solidFill>
                <a:latin typeface="Artifakt Element Book" panose="020B0503050000020004" pitchFamily="34" charset="0"/>
                <a:ea typeface="Artifakt Element Book" panose="020B0503050000020004" pitchFamily="34" charset="0"/>
              </a:rPr>
              <a:t>Why is a dedicated system needed?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66E996-222C-4A7F-983E-85A5ADCEE9E8}"/>
              </a:ext>
            </a:extLst>
          </p:cNvPr>
          <p:cNvSpPr txBox="1"/>
          <p:nvPr/>
        </p:nvSpPr>
        <p:spPr>
          <a:xfrm>
            <a:off x="1531946" y="2632905"/>
            <a:ext cx="62139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  <a:defRPr sz="1600" b="0">
                <a:solidFill>
                  <a:srgbClr val="2D3748"/>
                </a:solidFill>
                <a:latin typeface="Aptos"/>
              </a:defRPr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Large contact lists are difficult to manage manually.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D7781B-A31E-6640-4583-CC0E74D9A447}"/>
              </a:ext>
            </a:extLst>
          </p:cNvPr>
          <p:cNvSpPr txBox="1"/>
          <p:nvPr/>
        </p:nvSpPr>
        <p:spPr>
          <a:xfrm>
            <a:off x="1561197" y="3227243"/>
            <a:ext cx="71845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  <a:defRPr sz="1600" b="0">
                <a:solidFill>
                  <a:srgbClr val="2D3748"/>
                </a:solidFill>
                <a:latin typeface="Aptos"/>
              </a:defRPr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Finding a specific contact can become time-consuming.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9AB8A5-DB29-D8EF-4260-DBEF432B5A1A}"/>
              </a:ext>
            </a:extLst>
          </p:cNvPr>
          <p:cNvSpPr txBox="1"/>
          <p:nvPr/>
        </p:nvSpPr>
        <p:spPr>
          <a:xfrm>
            <a:off x="1577719" y="3746107"/>
            <a:ext cx="75454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  <a:defRPr sz="1600" b="0">
                <a:solidFill>
                  <a:srgbClr val="2D3748"/>
                </a:solidFill>
                <a:latin typeface="Aptos"/>
              </a:defRPr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Updating or deleting outdated records is inconvenient.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FB7407-0C6E-D714-9EBE-8CD3AF69CD97}"/>
              </a:ext>
            </a:extLst>
          </p:cNvPr>
          <p:cNvSpPr txBox="1"/>
          <p:nvPr/>
        </p:nvSpPr>
        <p:spPr>
          <a:xfrm>
            <a:off x="1577719" y="4284572"/>
            <a:ext cx="77614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  <a:defRPr sz="1600" b="0">
                <a:solidFill>
                  <a:srgbClr val="2D3748"/>
                </a:solidFill>
                <a:latin typeface="Aptos"/>
              </a:defRPr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Duplicate or invalid information can reduce data reliability.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FA7DC8-CE2D-FCAA-8E85-EF7D414360A2}"/>
              </a:ext>
            </a:extLst>
          </p:cNvPr>
          <p:cNvSpPr txBox="1"/>
          <p:nvPr/>
        </p:nvSpPr>
        <p:spPr>
          <a:xfrm>
            <a:off x="1577719" y="4798018"/>
            <a:ext cx="83904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  <a:defRPr sz="1600" b="0">
                <a:solidFill>
                  <a:srgbClr val="2D3748"/>
                </a:solidFill>
                <a:latin typeface="Aptos"/>
              </a:defRPr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Contact records need organized and persistent storage.</a:t>
            </a:r>
          </a:p>
        </p:txBody>
      </p:sp>
    </p:spTree>
    <p:extLst>
      <p:ext uri="{BB962C8B-B14F-4D97-AF65-F5344CB8AC3E}">
        <p14:creationId xmlns:p14="http://schemas.microsoft.com/office/powerpoint/2010/main" val="1476965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749182-CC37-43A6-72FB-EC083257D29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D516DF-1B05-0EBF-18BC-F38522964356}"/>
              </a:ext>
            </a:extLst>
          </p:cNvPr>
          <p:cNvSpPr txBox="1"/>
          <p:nvPr/>
        </p:nvSpPr>
        <p:spPr>
          <a:xfrm>
            <a:off x="4439816" y="332656"/>
            <a:ext cx="6213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11F36"/>
                </a:solidFill>
                <a:latin typeface="Aptos"/>
              </a:defRPr>
            </a:pPr>
            <a:r>
              <a:rPr lang="en-IN" sz="3200" dirty="0">
                <a:solidFill>
                  <a:schemeClr val="accent1">
                    <a:lumMod val="50000"/>
                  </a:schemeClr>
                </a:solidFill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Project Objectives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D4394D5-3772-5807-FC60-8FC59346EE9D}"/>
              </a:ext>
            </a:extLst>
          </p:cNvPr>
          <p:cNvCxnSpPr>
            <a:cxnSpLocks/>
          </p:cNvCxnSpPr>
          <p:nvPr/>
        </p:nvCxnSpPr>
        <p:spPr>
          <a:xfrm>
            <a:off x="2855640" y="1052736"/>
            <a:ext cx="7184557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89B1D39-A6DB-F2B5-50D5-5770AAE4C2CC}"/>
              </a:ext>
            </a:extLst>
          </p:cNvPr>
          <p:cNvGrpSpPr/>
          <p:nvPr/>
        </p:nvGrpSpPr>
        <p:grpSpPr>
          <a:xfrm>
            <a:off x="321408" y="1448307"/>
            <a:ext cx="6718042" cy="430887"/>
            <a:chOff x="551384" y="1412776"/>
            <a:chExt cx="6718042" cy="430887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67F9542-1B2C-767B-F22F-691BF7924260}"/>
                </a:ext>
              </a:extLst>
            </p:cNvPr>
            <p:cNvGrpSpPr/>
            <p:nvPr/>
          </p:nvGrpSpPr>
          <p:grpSpPr>
            <a:xfrm>
              <a:off x="551384" y="1412776"/>
              <a:ext cx="704700" cy="430887"/>
              <a:chOff x="2855640" y="3090156"/>
              <a:chExt cx="704700" cy="430887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F6B3546-BB58-1344-C508-9AA5423A89A9}"/>
                  </a:ext>
                </a:extLst>
              </p:cNvPr>
              <p:cNvSpPr txBox="1"/>
              <p:nvPr/>
            </p:nvSpPr>
            <p:spPr>
              <a:xfrm>
                <a:off x="2855640" y="3090156"/>
                <a:ext cx="704700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200" b="1" dirty="0">
                    <a:solidFill>
                      <a:schemeClr val="accent1">
                        <a:lumMod val="50000"/>
                      </a:schemeClr>
                    </a:solidFill>
                    <a:latin typeface="Artifakt Element Book" panose="020B0503050000020004" pitchFamily="34" charset="0"/>
                    <a:ea typeface="Artifakt Element Book" panose="020B0503050000020004" pitchFamily="34" charset="0"/>
                  </a:rPr>
                  <a:t>01</a:t>
                </a:r>
                <a:endParaRPr lang="en-IN" sz="2200" dirty="0">
                  <a:solidFill>
                    <a:schemeClr val="accent1">
                      <a:lumMod val="50000"/>
                    </a:schemeClr>
                  </a:solidFill>
                  <a:latin typeface="Artifakt Element Book" panose="020B0503050000020004" pitchFamily="34" charset="0"/>
                  <a:ea typeface="Artifakt Element Book" panose="020B0503050000020004" pitchFamily="34" charset="0"/>
                </a:endParaRP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9C71019-7E90-1838-9F02-3556C20D4115}"/>
                  </a:ext>
                </a:extLst>
              </p:cNvPr>
              <p:cNvCxnSpPr/>
              <p:nvPr/>
            </p:nvCxnSpPr>
            <p:spPr>
              <a:xfrm>
                <a:off x="3359696" y="3125579"/>
                <a:ext cx="0" cy="360040"/>
              </a:xfrm>
              <a:prstGeom prst="line">
                <a:avLst/>
              </a:prstGeom>
              <a:ln w="19050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C37774B-5FBF-36C8-8173-A49B61F5B81F}"/>
                </a:ext>
              </a:extLst>
            </p:cNvPr>
            <p:cNvSpPr txBox="1"/>
            <p:nvPr/>
          </p:nvSpPr>
          <p:spPr>
            <a:xfrm>
              <a:off x="1055440" y="1412776"/>
              <a:ext cx="6213986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200" b="1" dirty="0">
                  <a:solidFill>
                    <a:schemeClr val="accent1">
                      <a:lumMod val="50000"/>
                    </a:schemeClr>
                  </a:solidFill>
                  <a:latin typeface="Artifakt Element Book" panose="020B0503050000020004" pitchFamily="34" charset="0"/>
                  <a:ea typeface="Artifakt Element Book" panose="020B0503050000020004" pitchFamily="34" charset="0"/>
                </a:rPr>
                <a:t>ORGANIZE</a:t>
              </a: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CA5BA206-6B05-C00A-718F-0C2D9A8A4C6B}"/>
              </a:ext>
            </a:extLst>
          </p:cNvPr>
          <p:cNvSpPr txBox="1"/>
          <p:nvPr/>
        </p:nvSpPr>
        <p:spPr>
          <a:xfrm>
            <a:off x="1343392" y="1859619"/>
            <a:ext cx="62139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Store and manage contact information efficiently.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E87003E-4294-D5BA-C382-9F5C8E23114B}"/>
              </a:ext>
            </a:extLst>
          </p:cNvPr>
          <p:cNvGrpSpPr/>
          <p:nvPr/>
        </p:nvGrpSpPr>
        <p:grpSpPr>
          <a:xfrm>
            <a:off x="321408" y="2255082"/>
            <a:ext cx="6718042" cy="430887"/>
            <a:chOff x="551384" y="1412776"/>
            <a:chExt cx="6718042" cy="430887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4F16ADB-1E2A-D143-4724-D98AFA680C40}"/>
                </a:ext>
              </a:extLst>
            </p:cNvPr>
            <p:cNvGrpSpPr/>
            <p:nvPr/>
          </p:nvGrpSpPr>
          <p:grpSpPr>
            <a:xfrm>
              <a:off x="551384" y="1412776"/>
              <a:ext cx="704700" cy="430887"/>
              <a:chOff x="2855640" y="3090156"/>
              <a:chExt cx="704700" cy="430887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6DA59C9-59E1-5FCA-5C45-66FD6A0A73AF}"/>
                  </a:ext>
                </a:extLst>
              </p:cNvPr>
              <p:cNvSpPr txBox="1"/>
              <p:nvPr/>
            </p:nvSpPr>
            <p:spPr>
              <a:xfrm>
                <a:off x="2855640" y="3090156"/>
                <a:ext cx="704700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200" b="1" dirty="0">
                    <a:solidFill>
                      <a:schemeClr val="accent1">
                        <a:lumMod val="50000"/>
                      </a:schemeClr>
                    </a:solidFill>
                    <a:latin typeface="Artifakt Element Book" panose="020B0503050000020004" pitchFamily="34" charset="0"/>
                    <a:ea typeface="Artifakt Element Book" panose="020B0503050000020004" pitchFamily="34" charset="0"/>
                  </a:rPr>
                  <a:t>02</a:t>
                </a:r>
                <a:endParaRPr lang="en-IN" sz="2200" dirty="0">
                  <a:solidFill>
                    <a:schemeClr val="accent1">
                      <a:lumMod val="50000"/>
                    </a:schemeClr>
                  </a:solidFill>
                  <a:latin typeface="Artifakt Element Book" panose="020B0503050000020004" pitchFamily="34" charset="0"/>
                  <a:ea typeface="Artifakt Element Book" panose="020B0503050000020004" pitchFamily="34" charset="0"/>
                </a:endParaRPr>
              </a:p>
            </p:txBody>
          </p: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E81D0206-FF4B-CD5F-E907-E7EBC9E746B1}"/>
                  </a:ext>
                </a:extLst>
              </p:cNvPr>
              <p:cNvCxnSpPr/>
              <p:nvPr/>
            </p:nvCxnSpPr>
            <p:spPr>
              <a:xfrm>
                <a:off x="3359696" y="3125579"/>
                <a:ext cx="0" cy="360040"/>
              </a:xfrm>
              <a:prstGeom prst="line">
                <a:avLst/>
              </a:prstGeom>
              <a:ln w="19050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5D05653-7A70-BA87-C3C8-EA4BB50B4B90}"/>
                </a:ext>
              </a:extLst>
            </p:cNvPr>
            <p:cNvSpPr txBox="1"/>
            <p:nvPr/>
          </p:nvSpPr>
          <p:spPr>
            <a:xfrm>
              <a:off x="1055440" y="1412776"/>
              <a:ext cx="6213986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200" b="1" dirty="0">
                  <a:solidFill>
                    <a:schemeClr val="accent1">
                      <a:lumMod val="50000"/>
                    </a:schemeClr>
                  </a:solidFill>
                  <a:latin typeface="Artifakt Element Book" panose="020B0503050000020004" pitchFamily="34" charset="0"/>
                  <a:ea typeface="Artifakt Element Book" panose="020B0503050000020004" pitchFamily="34" charset="0"/>
                </a:rPr>
                <a:t>MANAGE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692A19D7-DCF9-ECE8-5CF8-A8884DDFDBF3}"/>
              </a:ext>
            </a:extLst>
          </p:cNvPr>
          <p:cNvSpPr txBox="1"/>
          <p:nvPr/>
        </p:nvSpPr>
        <p:spPr>
          <a:xfrm>
            <a:off x="1318871" y="2685969"/>
            <a:ext cx="62139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Add, view, search, update and delete contacts.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00E1A4D-A6A4-CAAE-4F55-17B6D53D69EC}"/>
              </a:ext>
            </a:extLst>
          </p:cNvPr>
          <p:cNvGrpSpPr/>
          <p:nvPr/>
        </p:nvGrpSpPr>
        <p:grpSpPr>
          <a:xfrm>
            <a:off x="321408" y="2992790"/>
            <a:ext cx="6718042" cy="430887"/>
            <a:chOff x="551384" y="1412776"/>
            <a:chExt cx="6718042" cy="430887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0CD1CAE8-A117-5D06-AA76-ED292F277711}"/>
                </a:ext>
              </a:extLst>
            </p:cNvPr>
            <p:cNvGrpSpPr/>
            <p:nvPr/>
          </p:nvGrpSpPr>
          <p:grpSpPr>
            <a:xfrm>
              <a:off x="551384" y="1412776"/>
              <a:ext cx="704700" cy="430887"/>
              <a:chOff x="2855640" y="3090156"/>
              <a:chExt cx="704700" cy="430887"/>
            </a:xfrm>
          </p:grpSpPr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F87207C-9A9B-E284-C22F-C9134572CCD5}"/>
                  </a:ext>
                </a:extLst>
              </p:cNvPr>
              <p:cNvSpPr txBox="1"/>
              <p:nvPr/>
            </p:nvSpPr>
            <p:spPr>
              <a:xfrm>
                <a:off x="2855640" y="3090156"/>
                <a:ext cx="704700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200" b="1" dirty="0">
                    <a:solidFill>
                      <a:schemeClr val="accent1">
                        <a:lumMod val="50000"/>
                      </a:schemeClr>
                    </a:solidFill>
                    <a:latin typeface="Artifakt Element Book" panose="020B0503050000020004" pitchFamily="34" charset="0"/>
                    <a:ea typeface="Artifakt Element Book" panose="020B0503050000020004" pitchFamily="34" charset="0"/>
                  </a:rPr>
                  <a:t>03</a:t>
                </a:r>
                <a:endParaRPr lang="en-IN" sz="2200" dirty="0">
                  <a:solidFill>
                    <a:schemeClr val="accent1">
                      <a:lumMod val="50000"/>
                    </a:schemeClr>
                  </a:solidFill>
                  <a:latin typeface="Artifakt Element Book" panose="020B0503050000020004" pitchFamily="34" charset="0"/>
                  <a:ea typeface="Artifakt Element Book" panose="020B0503050000020004" pitchFamily="34" charset="0"/>
                </a:endParaRPr>
              </a:p>
            </p:txBody>
          </p: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D5292B42-8E20-0A3A-808F-146434BDB1B5}"/>
                  </a:ext>
                </a:extLst>
              </p:cNvPr>
              <p:cNvCxnSpPr/>
              <p:nvPr/>
            </p:nvCxnSpPr>
            <p:spPr>
              <a:xfrm>
                <a:off x="3359696" y="3125579"/>
                <a:ext cx="0" cy="360040"/>
              </a:xfrm>
              <a:prstGeom prst="line">
                <a:avLst/>
              </a:prstGeom>
              <a:ln w="19050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8B13D2D-24ED-5E7C-B881-793F034E6F8B}"/>
                </a:ext>
              </a:extLst>
            </p:cNvPr>
            <p:cNvSpPr txBox="1"/>
            <p:nvPr/>
          </p:nvSpPr>
          <p:spPr>
            <a:xfrm>
              <a:off x="1055440" y="1412776"/>
              <a:ext cx="6213986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200" b="1" dirty="0">
                  <a:solidFill>
                    <a:schemeClr val="accent1">
                      <a:lumMod val="50000"/>
                    </a:schemeClr>
                  </a:solidFill>
                  <a:latin typeface="Artifakt Element Book" panose="020B0503050000020004" pitchFamily="34" charset="0"/>
                  <a:ea typeface="Artifakt Element Book" panose="020B0503050000020004" pitchFamily="34" charset="0"/>
                </a:rPr>
                <a:t>ORGANIZE FURTHER</a:t>
              </a: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4170B61C-FAEF-75B2-CC6C-5E28C810F0D4}"/>
              </a:ext>
            </a:extLst>
          </p:cNvPr>
          <p:cNvSpPr txBox="1"/>
          <p:nvPr/>
        </p:nvSpPr>
        <p:spPr>
          <a:xfrm>
            <a:off x="1318871" y="3388253"/>
            <a:ext cx="62139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Sort, categorize and manage favourite contacts</a:t>
            </a:r>
            <a:r>
              <a:rPr lang="en-IN" dirty="0"/>
              <a:t>.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5B78308-99B4-9973-8DDC-167517E562FC}"/>
              </a:ext>
            </a:extLst>
          </p:cNvPr>
          <p:cNvGrpSpPr/>
          <p:nvPr/>
        </p:nvGrpSpPr>
        <p:grpSpPr>
          <a:xfrm>
            <a:off x="321408" y="3690427"/>
            <a:ext cx="6718042" cy="430887"/>
            <a:chOff x="551384" y="1412776"/>
            <a:chExt cx="6718042" cy="430887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E26853CB-7031-5C09-0576-A79EBE386730}"/>
                </a:ext>
              </a:extLst>
            </p:cNvPr>
            <p:cNvGrpSpPr/>
            <p:nvPr/>
          </p:nvGrpSpPr>
          <p:grpSpPr>
            <a:xfrm>
              <a:off x="551384" y="1412776"/>
              <a:ext cx="704700" cy="430887"/>
              <a:chOff x="2855640" y="3090156"/>
              <a:chExt cx="704700" cy="430887"/>
            </a:xfrm>
          </p:grpSpPr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CA5F322-DAAB-4166-038C-30492B719DEC}"/>
                  </a:ext>
                </a:extLst>
              </p:cNvPr>
              <p:cNvSpPr txBox="1"/>
              <p:nvPr/>
            </p:nvSpPr>
            <p:spPr>
              <a:xfrm>
                <a:off x="2855640" y="3090156"/>
                <a:ext cx="704700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200" b="1" dirty="0">
                    <a:solidFill>
                      <a:schemeClr val="accent1">
                        <a:lumMod val="50000"/>
                      </a:schemeClr>
                    </a:solidFill>
                    <a:latin typeface="Artifakt Element Book" panose="020B0503050000020004" pitchFamily="34" charset="0"/>
                    <a:ea typeface="Artifakt Element Book" panose="020B0503050000020004" pitchFamily="34" charset="0"/>
                  </a:rPr>
                  <a:t>04</a:t>
                </a:r>
                <a:endParaRPr lang="en-IN" sz="2200" dirty="0">
                  <a:solidFill>
                    <a:schemeClr val="accent1">
                      <a:lumMod val="50000"/>
                    </a:schemeClr>
                  </a:solidFill>
                  <a:latin typeface="Artifakt Element Book" panose="020B0503050000020004" pitchFamily="34" charset="0"/>
                  <a:ea typeface="Artifakt Element Book" panose="020B0503050000020004" pitchFamily="34" charset="0"/>
                </a:endParaRPr>
              </a:p>
            </p:txBody>
          </p: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2F0F28CD-68C1-5B79-E198-2C41F0E83C9A}"/>
                  </a:ext>
                </a:extLst>
              </p:cNvPr>
              <p:cNvCxnSpPr/>
              <p:nvPr/>
            </p:nvCxnSpPr>
            <p:spPr>
              <a:xfrm>
                <a:off x="3359696" y="3125579"/>
                <a:ext cx="0" cy="360040"/>
              </a:xfrm>
              <a:prstGeom prst="line">
                <a:avLst/>
              </a:prstGeom>
              <a:ln w="19050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5F8BAB9-2553-BF6B-FD95-AFFAD37B743F}"/>
                </a:ext>
              </a:extLst>
            </p:cNvPr>
            <p:cNvSpPr txBox="1"/>
            <p:nvPr/>
          </p:nvSpPr>
          <p:spPr>
            <a:xfrm>
              <a:off x="1055440" y="1412776"/>
              <a:ext cx="6213986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200" b="1" dirty="0">
                  <a:solidFill>
                    <a:schemeClr val="accent1">
                      <a:lumMod val="50000"/>
                    </a:schemeClr>
                  </a:solidFill>
                  <a:latin typeface="Artifakt Element Book" panose="020B0503050000020004" pitchFamily="34" charset="0"/>
                  <a:ea typeface="Artifakt Element Book" panose="020B0503050000020004" pitchFamily="34" charset="0"/>
                </a:rPr>
                <a:t>VALIDATE</a:t>
              </a:r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FD5649D3-436D-35F8-CB1D-CFE811296405}"/>
              </a:ext>
            </a:extLst>
          </p:cNvPr>
          <p:cNvSpPr txBox="1"/>
          <p:nvPr/>
        </p:nvSpPr>
        <p:spPr>
          <a:xfrm>
            <a:off x="1343392" y="4055113"/>
            <a:ext cx="62139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Prevent invalid and duplicate contact records.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B61AAED-637B-2735-41EF-08778B64C43C}"/>
              </a:ext>
            </a:extLst>
          </p:cNvPr>
          <p:cNvGrpSpPr/>
          <p:nvPr/>
        </p:nvGrpSpPr>
        <p:grpSpPr>
          <a:xfrm>
            <a:off x="321408" y="4403932"/>
            <a:ext cx="6718042" cy="430887"/>
            <a:chOff x="551384" y="1412776"/>
            <a:chExt cx="6718042" cy="430887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0A14EDB4-05F7-D52A-88B3-CBE6CA329382}"/>
                </a:ext>
              </a:extLst>
            </p:cNvPr>
            <p:cNvGrpSpPr/>
            <p:nvPr/>
          </p:nvGrpSpPr>
          <p:grpSpPr>
            <a:xfrm>
              <a:off x="551384" y="1412776"/>
              <a:ext cx="704700" cy="430887"/>
              <a:chOff x="2855640" y="3090156"/>
              <a:chExt cx="704700" cy="430887"/>
            </a:xfrm>
          </p:grpSpPr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9EEAA4D-7050-187B-91CC-889B25443BD3}"/>
                  </a:ext>
                </a:extLst>
              </p:cNvPr>
              <p:cNvSpPr txBox="1"/>
              <p:nvPr/>
            </p:nvSpPr>
            <p:spPr>
              <a:xfrm>
                <a:off x="2855640" y="3090156"/>
                <a:ext cx="704700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200" b="1" dirty="0">
                    <a:solidFill>
                      <a:schemeClr val="accent1">
                        <a:lumMod val="50000"/>
                      </a:schemeClr>
                    </a:solidFill>
                    <a:latin typeface="Artifakt Element Book" panose="020B0503050000020004" pitchFamily="34" charset="0"/>
                    <a:ea typeface="Artifakt Element Book" panose="020B0503050000020004" pitchFamily="34" charset="0"/>
                  </a:rPr>
                  <a:t>05</a:t>
                </a:r>
                <a:endParaRPr lang="en-IN" sz="2200" dirty="0">
                  <a:solidFill>
                    <a:schemeClr val="accent1">
                      <a:lumMod val="50000"/>
                    </a:schemeClr>
                  </a:solidFill>
                  <a:latin typeface="Artifakt Element Book" panose="020B0503050000020004" pitchFamily="34" charset="0"/>
                  <a:ea typeface="Artifakt Element Book" panose="020B0503050000020004" pitchFamily="34" charset="0"/>
                </a:endParaRPr>
              </a:p>
            </p:txBody>
          </p: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E96DA374-3467-8A56-27D4-F9211850BB5C}"/>
                  </a:ext>
                </a:extLst>
              </p:cNvPr>
              <p:cNvCxnSpPr/>
              <p:nvPr/>
            </p:nvCxnSpPr>
            <p:spPr>
              <a:xfrm>
                <a:off x="3359696" y="3125579"/>
                <a:ext cx="0" cy="360040"/>
              </a:xfrm>
              <a:prstGeom prst="line">
                <a:avLst/>
              </a:prstGeom>
              <a:ln w="19050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4EB99FC-5C1F-B25E-A8B3-2603FB8B6ED7}"/>
                </a:ext>
              </a:extLst>
            </p:cNvPr>
            <p:cNvSpPr txBox="1"/>
            <p:nvPr/>
          </p:nvSpPr>
          <p:spPr>
            <a:xfrm>
              <a:off x="1055440" y="1412776"/>
              <a:ext cx="6213986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200" b="1" dirty="0">
                  <a:solidFill>
                    <a:schemeClr val="accent1">
                      <a:lumMod val="50000"/>
                    </a:schemeClr>
                  </a:solidFill>
                  <a:latin typeface="Artifakt Element Book" panose="020B0503050000020004" pitchFamily="34" charset="0"/>
                  <a:ea typeface="Artifakt Element Book" panose="020B0503050000020004" pitchFamily="34" charset="0"/>
                </a:rPr>
                <a:t>PRESERVE</a:t>
              </a: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4DC1DED1-4B75-7165-04EC-E5C9FB420DDA}"/>
              </a:ext>
            </a:extLst>
          </p:cNvPr>
          <p:cNvSpPr txBox="1"/>
          <p:nvPr/>
        </p:nvSpPr>
        <p:spPr>
          <a:xfrm>
            <a:off x="1343392" y="4783527"/>
            <a:ext cx="62139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Provide file storage, backup and CSV export.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98A25181-3AFA-5185-D160-A64CB25294D0}"/>
              </a:ext>
            </a:extLst>
          </p:cNvPr>
          <p:cNvGrpSpPr/>
          <p:nvPr/>
        </p:nvGrpSpPr>
        <p:grpSpPr>
          <a:xfrm>
            <a:off x="321408" y="5155483"/>
            <a:ext cx="6718042" cy="430887"/>
            <a:chOff x="551384" y="1412776"/>
            <a:chExt cx="6718042" cy="430887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87FB512B-16B3-2347-27B2-4D85F4045FC1}"/>
                </a:ext>
              </a:extLst>
            </p:cNvPr>
            <p:cNvGrpSpPr/>
            <p:nvPr/>
          </p:nvGrpSpPr>
          <p:grpSpPr>
            <a:xfrm>
              <a:off x="551384" y="1412776"/>
              <a:ext cx="704700" cy="430887"/>
              <a:chOff x="2855640" y="3090156"/>
              <a:chExt cx="704700" cy="430887"/>
            </a:xfrm>
          </p:grpSpPr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C132EAC-5D34-396B-2F20-8C2AD6D2D2CE}"/>
                  </a:ext>
                </a:extLst>
              </p:cNvPr>
              <p:cNvSpPr txBox="1"/>
              <p:nvPr/>
            </p:nvSpPr>
            <p:spPr>
              <a:xfrm>
                <a:off x="2855640" y="3090156"/>
                <a:ext cx="704700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200" b="1" dirty="0">
                    <a:solidFill>
                      <a:schemeClr val="accent1">
                        <a:lumMod val="50000"/>
                      </a:schemeClr>
                    </a:solidFill>
                    <a:latin typeface="Artifakt Element Book" panose="020B0503050000020004" pitchFamily="34" charset="0"/>
                    <a:ea typeface="Artifakt Element Book" panose="020B0503050000020004" pitchFamily="34" charset="0"/>
                  </a:rPr>
                  <a:t>06</a:t>
                </a:r>
                <a:endParaRPr lang="en-IN" sz="2200" dirty="0">
                  <a:solidFill>
                    <a:schemeClr val="accent1">
                      <a:lumMod val="50000"/>
                    </a:schemeClr>
                  </a:solidFill>
                  <a:latin typeface="Artifakt Element Book" panose="020B0503050000020004" pitchFamily="34" charset="0"/>
                  <a:ea typeface="Artifakt Element Book" panose="020B0503050000020004" pitchFamily="34" charset="0"/>
                </a:endParaRPr>
              </a:p>
            </p:txBody>
          </p: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8E92A28D-AB19-18F0-D871-67C895E79AC3}"/>
                  </a:ext>
                </a:extLst>
              </p:cNvPr>
              <p:cNvCxnSpPr/>
              <p:nvPr/>
            </p:nvCxnSpPr>
            <p:spPr>
              <a:xfrm>
                <a:off x="3359696" y="3125579"/>
                <a:ext cx="0" cy="360040"/>
              </a:xfrm>
              <a:prstGeom prst="line">
                <a:avLst/>
              </a:prstGeom>
              <a:ln w="19050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15552A2-BE86-3956-8E10-7FC18337BCC9}"/>
                </a:ext>
              </a:extLst>
            </p:cNvPr>
            <p:cNvSpPr txBox="1"/>
            <p:nvPr/>
          </p:nvSpPr>
          <p:spPr>
            <a:xfrm>
              <a:off x="1055440" y="1412776"/>
              <a:ext cx="6213986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200" b="1" dirty="0">
                  <a:solidFill>
                    <a:schemeClr val="accent1">
                      <a:lumMod val="50000"/>
                    </a:schemeClr>
                  </a:solidFill>
                  <a:latin typeface="Artifakt Element Book" panose="020B0503050000020004" pitchFamily="34" charset="0"/>
                  <a:ea typeface="Artifakt Element Book" panose="020B0503050000020004" pitchFamily="34" charset="0"/>
                </a:rPr>
                <a:t>APPLY C++</a:t>
              </a: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6CA10A18-FBA4-4507-5149-DB0FC5AEC093}"/>
              </a:ext>
            </a:extLst>
          </p:cNvPr>
          <p:cNvSpPr txBox="1"/>
          <p:nvPr/>
        </p:nvSpPr>
        <p:spPr>
          <a:xfrm>
            <a:off x="1343472" y="5605209"/>
            <a:ext cx="69708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Demonstrate OOP and C++ concepts in a practical application.</a:t>
            </a:r>
          </a:p>
        </p:txBody>
      </p:sp>
    </p:spTree>
    <p:extLst>
      <p:ext uri="{BB962C8B-B14F-4D97-AF65-F5344CB8AC3E}">
        <p14:creationId xmlns:p14="http://schemas.microsoft.com/office/powerpoint/2010/main" val="2339834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C25CAF-6F58-BC00-CD16-823DFA86B68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00F6C9-E568-FCEC-DA91-32965E83F87F}"/>
              </a:ext>
            </a:extLst>
          </p:cNvPr>
          <p:cNvSpPr txBox="1"/>
          <p:nvPr/>
        </p:nvSpPr>
        <p:spPr>
          <a:xfrm>
            <a:off x="4007768" y="188640"/>
            <a:ext cx="6213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chemeClr val="accent1">
                    <a:lumMod val="50000"/>
                  </a:schemeClr>
                </a:solidFill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Implemented Modules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186DE73-B48E-5C75-96CD-54E2A94BC948}"/>
              </a:ext>
            </a:extLst>
          </p:cNvPr>
          <p:cNvCxnSpPr>
            <a:cxnSpLocks/>
          </p:cNvCxnSpPr>
          <p:nvPr/>
        </p:nvCxnSpPr>
        <p:spPr>
          <a:xfrm>
            <a:off x="2855640" y="908720"/>
            <a:ext cx="7184557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6">
            <a:extLst>
              <a:ext uri="{FF2B5EF4-FFF2-40B4-BE49-F238E27FC236}">
                <a16:creationId xmlns:a16="http://schemas.microsoft.com/office/drawing/2014/main" id="{9F384990-CE16-17F8-DA2D-937D9904D53E}"/>
              </a:ext>
            </a:extLst>
          </p:cNvPr>
          <p:cNvSpPr/>
          <p:nvPr/>
        </p:nvSpPr>
        <p:spPr>
          <a:xfrm>
            <a:off x="1021080" y="1340768"/>
            <a:ext cx="3108960" cy="1234440"/>
          </a:xfrm>
          <a:prstGeom prst="roundRect">
            <a:avLst/>
          </a:prstGeom>
          <a:solidFill>
            <a:srgbClr val="FFFFFF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2B7473-B17B-DA9A-A840-8F5F9CC465E1}"/>
              </a:ext>
            </a:extLst>
          </p:cNvPr>
          <p:cNvSpPr txBox="1"/>
          <p:nvPr/>
        </p:nvSpPr>
        <p:spPr>
          <a:xfrm>
            <a:off x="1185671" y="1477927"/>
            <a:ext cx="275447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11F36"/>
                </a:solidFill>
                <a:latin typeface="Aptos"/>
              </a:defRPr>
            </a:pPr>
            <a:r>
              <a:rPr sz="20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CONTACT MANAGEMENT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066567-E6E5-B99C-9910-F13D3C761977}"/>
              </a:ext>
            </a:extLst>
          </p:cNvPr>
          <p:cNvSpPr txBox="1"/>
          <p:nvPr/>
        </p:nvSpPr>
        <p:spPr>
          <a:xfrm>
            <a:off x="1424588" y="1957988"/>
            <a:ext cx="25831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Artifakt Element Book" panose="020B0503050000020004" pitchFamily="34" charset="0"/>
                <a:ea typeface="Artifakt Element Book" panose="020B0503050000020004" pitchFamily="34" charset="0"/>
              </a:rPr>
              <a:t>Add </a:t>
            </a:r>
            <a:r>
              <a:rPr lang="en-IN" sz="1200" dirty="0">
                <a:solidFill>
                  <a:schemeClr val="accent1">
                    <a:lumMod val="75000"/>
                  </a:schemeClr>
                </a:solidFill>
                <a:latin typeface="Artifakt Element Book" panose="020B0503050000020004" pitchFamily="34" charset="0"/>
                <a:ea typeface="Artifakt Element Book" panose="020B0503050000020004" pitchFamily="34" charset="0"/>
              </a:rPr>
              <a:t>,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Artifakt Element Book" panose="020B0503050000020004" pitchFamily="34" charset="0"/>
                <a:ea typeface="Artifakt Element Book" panose="020B0503050000020004" pitchFamily="34" charset="0"/>
              </a:rPr>
              <a:t> View </a:t>
            </a:r>
            <a:r>
              <a:rPr lang="en-IN" sz="1200" dirty="0">
                <a:solidFill>
                  <a:schemeClr val="accent1">
                    <a:lumMod val="75000"/>
                  </a:schemeClr>
                </a:solidFill>
                <a:latin typeface="Artifakt Element Book" panose="020B0503050000020004" pitchFamily="34" charset="0"/>
                <a:ea typeface="Artifakt Element Book" panose="020B0503050000020004" pitchFamily="34" charset="0"/>
              </a:rPr>
              <a:t>,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Artifakt Element Book" panose="020B0503050000020004" pitchFamily="34" charset="0"/>
                <a:ea typeface="Artifakt Element Book" panose="020B0503050000020004" pitchFamily="34" charset="0"/>
              </a:rPr>
              <a:t> Update </a:t>
            </a:r>
            <a:r>
              <a:rPr lang="en-IN" sz="1200" dirty="0">
                <a:solidFill>
                  <a:schemeClr val="accent1">
                    <a:lumMod val="75000"/>
                  </a:schemeClr>
                </a:solidFill>
                <a:latin typeface="Artifakt Element Book" panose="020B0503050000020004" pitchFamily="34" charset="0"/>
                <a:ea typeface="Artifakt Element Book" panose="020B0503050000020004" pitchFamily="34" charset="0"/>
              </a:rPr>
              <a:t>,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Artifakt Element Book" panose="020B0503050000020004" pitchFamily="34" charset="0"/>
                <a:ea typeface="Artifakt Element Book" panose="020B0503050000020004" pitchFamily="34" charset="0"/>
              </a:rPr>
              <a:t> Delete</a:t>
            </a:r>
          </a:p>
        </p:txBody>
      </p:sp>
      <p:sp>
        <p:nvSpPr>
          <p:cNvPr id="12" name="Rounded Rectangle 10">
            <a:extLst>
              <a:ext uri="{FF2B5EF4-FFF2-40B4-BE49-F238E27FC236}">
                <a16:creationId xmlns:a16="http://schemas.microsoft.com/office/drawing/2014/main" id="{B187098A-5AC0-FE6A-42A8-690BC1DB6B54}"/>
              </a:ext>
            </a:extLst>
          </p:cNvPr>
          <p:cNvSpPr/>
          <p:nvPr/>
        </p:nvSpPr>
        <p:spPr>
          <a:xfrm>
            <a:off x="4541520" y="1340768"/>
            <a:ext cx="3108960" cy="1234440"/>
          </a:xfrm>
          <a:prstGeom prst="roundRect">
            <a:avLst/>
          </a:prstGeom>
          <a:solidFill>
            <a:srgbClr val="FFFFFF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3A2B89-DEB6-BCB1-68A2-B571EE016151}"/>
              </a:ext>
            </a:extLst>
          </p:cNvPr>
          <p:cNvSpPr txBox="1"/>
          <p:nvPr/>
        </p:nvSpPr>
        <p:spPr>
          <a:xfrm>
            <a:off x="5511351" y="1428640"/>
            <a:ext cx="1060803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11F36"/>
                </a:solidFill>
                <a:latin typeface="Aptos"/>
              </a:defRPr>
            </a:pPr>
            <a:r>
              <a:rPr sz="2200" dirty="0">
                <a:solidFill>
                  <a:schemeClr val="accent1">
                    <a:lumMod val="50000"/>
                  </a:schemeClr>
                </a:solidFill>
                <a:latin typeface="+mj-lt"/>
                <a:ea typeface="Artifakt Element Book" panose="020B0503050000020004" pitchFamily="34" charset="0"/>
              </a:rPr>
              <a:t>SEARCH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F75B23-B39B-C119-B6F7-DB82EB1922B0}"/>
              </a:ext>
            </a:extLst>
          </p:cNvPr>
          <p:cNvSpPr txBox="1"/>
          <p:nvPr/>
        </p:nvSpPr>
        <p:spPr>
          <a:xfrm>
            <a:off x="5244645" y="1917782"/>
            <a:ext cx="170271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Artifakt Element Book" panose="020B0503050000020004" pitchFamily="34" charset="0"/>
                <a:ea typeface="Artifakt Element Book" panose="020B0503050000020004" pitchFamily="34" charset="0"/>
              </a:rPr>
              <a:t>Name </a:t>
            </a:r>
            <a:r>
              <a:rPr lang="en-IN" sz="1200" dirty="0">
                <a:solidFill>
                  <a:schemeClr val="accent1">
                    <a:lumMod val="75000"/>
                  </a:schemeClr>
                </a:solidFill>
                <a:latin typeface="Artifakt Element Book" panose="020B0503050000020004" pitchFamily="34" charset="0"/>
                <a:ea typeface="Artifakt Element Book" panose="020B0503050000020004" pitchFamily="34" charset="0"/>
              </a:rPr>
              <a:t>,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Artifakt Element Book" panose="020B0503050000020004" pitchFamily="34" charset="0"/>
                <a:ea typeface="Artifakt Element Book" panose="020B0503050000020004" pitchFamily="34" charset="0"/>
              </a:rPr>
              <a:t> Phone </a:t>
            </a:r>
            <a:r>
              <a:rPr lang="en-IN" sz="1200" dirty="0">
                <a:solidFill>
                  <a:schemeClr val="accent1">
                    <a:lumMod val="75000"/>
                  </a:schemeClr>
                </a:solidFill>
                <a:latin typeface="Artifakt Element Book" panose="020B0503050000020004" pitchFamily="34" charset="0"/>
                <a:ea typeface="Artifakt Element Book" panose="020B0503050000020004" pitchFamily="34" charset="0"/>
              </a:rPr>
              <a:t>,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Artifakt Element Book" panose="020B0503050000020004" pitchFamily="34" charset="0"/>
                <a:ea typeface="Artifakt Element Book" panose="020B0503050000020004" pitchFamily="34" charset="0"/>
              </a:rPr>
              <a:t> Email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F33A490-F85D-0830-F66C-1DD643294B7C}"/>
              </a:ext>
            </a:extLst>
          </p:cNvPr>
          <p:cNvSpPr/>
          <p:nvPr/>
        </p:nvSpPr>
        <p:spPr>
          <a:xfrm>
            <a:off x="8061960" y="1340768"/>
            <a:ext cx="3108960" cy="1234440"/>
          </a:xfrm>
          <a:prstGeom prst="roundRect">
            <a:avLst/>
          </a:prstGeom>
          <a:solidFill>
            <a:srgbClr val="FFFFFF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6A84F9-30D2-A74A-972F-B26515CE5E21}"/>
              </a:ext>
            </a:extLst>
          </p:cNvPr>
          <p:cNvSpPr txBox="1"/>
          <p:nvPr/>
        </p:nvSpPr>
        <p:spPr>
          <a:xfrm>
            <a:off x="8616280" y="1501874"/>
            <a:ext cx="1902572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11F36"/>
                </a:solidFill>
                <a:latin typeface="Aptos"/>
              </a:defRPr>
            </a:pPr>
            <a:r>
              <a:rPr sz="2200" dirty="0">
                <a:solidFill>
                  <a:schemeClr val="accent1">
                    <a:lumMod val="50000"/>
                  </a:schemeClr>
                </a:solidFill>
                <a:latin typeface="+mj-lt"/>
                <a:ea typeface="Artifakt Element Book" panose="020B0503050000020004" pitchFamily="34" charset="0"/>
              </a:rPr>
              <a:t>ORGANIZATION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2DADD4-5ECF-7356-6878-58C63CE34954}"/>
              </a:ext>
            </a:extLst>
          </p:cNvPr>
          <p:cNvSpPr txBox="1"/>
          <p:nvPr/>
        </p:nvSpPr>
        <p:spPr>
          <a:xfrm>
            <a:off x="9013786" y="1932761"/>
            <a:ext cx="125867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Artifakt Element Book" panose="020B0503050000020004" pitchFamily="34" charset="0"/>
                <a:ea typeface="Artifakt Element Book" panose="020B0503050000020004" pitchFamily="34" charset="0"/>
              </a:rPr>
              <a:t>Sort </a:t>
            </a:r>
            <a:r>
              <a:rPr lang="en-IN" sz="1200" dirty="0">
                <a:solidFill>
                  <a:schemeClr val="accent1">
                    <a:lumMod val="75000"/>
                  </a:schemeClr>
                </a:solidFill>
                <a:latin typeface="Artifakt Element Book" panose="020B0503050000020004" pitchFamily="34" charset="0"/>
                <a:ea typeface="Artifakt Element Book" panose="020B0503050000020004" pitchFamily="34" charset="0"/>
              </a:rPr>
              <a:t>,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Artifakt Element Book" panose="020B0503050000020004" pitchFamily="34" charset="0"/>
                <a:ea typeface="Artifakt Element Book" panose="020B0503050000020004" pitchFamily="34" charset="0"/>
              </a:rPr>
              <a:t> Category</a:t>
            </a:r>
          </a:p>
        </p:txBody>
      </p:sp>
      <p:sp>
        <p:nvSpPr>
          <p:cNvPr id="18" name="Rounded Rectangle 18">
            <a:extLst>
              <a:ext uri="{FF2B5EF4-FFF2-40B4-BE49-F238E27FC236}">
                <a16:creationId xmlns:a16="http://schemas.microsoft.com/office/drawing/2014/main" id="{CE0B0CD4-52EC-C557-916A-0C9E6B26F7B5}"/>
              </a:ext>
            </a:extLst>
          </p:cNvPr>
          <p:cNvSpPr/>
          <p:nvPr/>
        </p:nvSpPr>
        <p:spPr>
          <a:xfrm>
            <a:off x="1021080" y="2895248"/>
            <a:ext cx="3108960" cy="1234440"/>
          </a:xfrm>
          <a:prstGeom prst="roundRect">
            <a:avLst/>
          </a:prstGeom>
          <a:solidFill>
            <a:srgbClr val="FFFFFF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5C3A867-B63E-5807-5748-176F0DBF3D0F}"/>
              </a:ext>
            </a:extLst>
          </p:cNvPr>
          <p:cNvSpPr txBox="1"/>
          <p:nvPr/>
        </p:nvSpPr>
        <p:spPr>
          <a:xfrm>
            <a:off x="1783471" y="3032291"/>
            <a:ext cx="1378583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11F36"/>
                </a:solidFill>
                <a:latin typeface="Aptos"/>
              </a:defRPr>
            </a:pPr>
            <a:r>
              <a:rPr sz="2200">
                <a:solidFill>
                  <a:schemeClr val="accent1">
                    <a:lumMod val="50000"/>
                  </a:schemeClr>
                </a:solidFill>
                <a:latin typeface="+mj-lt"/>
                <a:ea typeface="Artifakt Element Book" panose="020B0503050000020004" pitchFamily="34" charset="0"/>
              </a:rPr>
              <a:t>FAVORITES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92DC8B-7C48-F76E-8CF0-0A8965E59951}"/>
              </a:ext>
            </a:extLst>
          </p:cNvPr>
          <p:cNvSpPr txBox="1"/>
          <p:nvPr/>
        </p:nvSpPr>
        <p:spPr>
          <a:xfrm>
            <a:off x="1676782" y="3463178"/>
            <a:ext cx="170110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Artifakt Element Book" panose="020B0503050000020004" pitchFamily="34" charset="0"/>
                <a:ea typeface="Artifakt Element Book" panose="020B0503050000020004" pitchFamily="34" charset="0"/>
              </a:rPr>
              <a:t>Mark </a:t>
            </a:r>
            <a:r>
              <a:rPr lang="en-IN" sz="1200" dirty="0">
                <a:solidFill>
                  <a:schemeClr val="accent1">
                    <a:lumMod val="75000"/>
                  </a:schemeClr>
                </a:solidFill>
                <a:latin typeface="Artifakt Element Book" panose="020B0503050000020004" pitchFamily="34" charset="0"/>
                <a:ea typeface="Artifakt Element Book" panose="020B0503050000020004" pitchFamily="34" charset="0"/>
              </a:rPr>
              <a:t>,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Artifakt Element Book" panose="020B0503050000020004" pitchFamily="34" charset="0"/>
                <a:ea typeface="Artifakt Element Book" panose="020B0503050000020004" pitchFamily="34" charset="0"/>
              </a:rPr>
              <a:t> Unmark </a:t>
            </a:r>
            <a:r>
              <a:rPr lang="en-IN" sz="1200" dirty="0">
                <a:solidFill>
                  <a:schemeClr val="accent1">
                    <a:lumMod val="75000"/>
                  </a:schemeClr>
                </a:solidFill>
                <a:latin typeface="Artifakt Element Book" panose="020B0503050000020004" pitchFamily="34" charset="0"/>
                <a:ea typeface="Artifakt Element Book" panose="020B0503050000020004" pitchFamily="34" charset="0"/>
              </a:rPr>
              <a:t>,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Artifakt Element Book" panose="020B0503050000020004" pitchFamily="34" charset="0"/>
                <a:ea typeface="Artifakt Element Book" panose="020B0503050000020004" pitchFamily="34" charset="0"/>
              </a:rPr>
              <a:t> View</a:t>
            </a:r>
          </a:p>
        </p:txBody>
      </p:sp>
      <p:sp>
        <p:nvSpPr>
          <p:cNvPr id="21" name="Rounded Rectangle 22">
            <a:extLst>
              <a:ext uri="{FF2B5EF4-FFF2-40B4-BE49-F238E27FC236}">
                <a16:creationId xmlns:a16="http://schemas.microsoft.com/office/drawing/2014/main" id="{E7A51C18-845B-38AE-3438-9ECC7FE2342C}"/>
              </a:ext>
            </a:extLst>
          </p:cNvPr>
          <p:cNvSpPr/>
          <p:nvPr/>
        </p:nvSpPr>
        <p:spPr>
          <a:xfrm>
            <a:off x="4541520" y="2895248"/>
            <a:ext cx="3108960" cy="1234440"/>
          </a:xfrm>
          <a:prstGeom prst="roundRect">
            <a:avLst/>
          </a:prstGeom>
          <a:solidFill>
            <a:srgbClr val="FFFFFF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7CE144A-B504-D43A-B625-8EF131F13B25}"/>
              </a:ext>
            </a:extLst>
          </p:cNvPr>
          <p:cNvSpPr txBox="1"/>
          <p:nvPr/>
        </p:nvSpPr>
        <p:spPr>
          <a:xfrm>
            <a:off x="5364483" y="3007255"/>
            <a:ext cx="1354538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11F36"/>
                </a:solidFill>
                <a:latin typeface="Aptos"/>
              </a:defRPr>
            </a:pPr>
            <a:r>
              <a:rPr sz="2200" dirty="0">
                <a:solidFill>
                  <a:schemeClr val="accent1">
                    <a:lumMod val="50000"/>
                  </a:schemeClr>
                </a:solidFill>
                <a:latin typeface="+mj-lt"/>
                <a:ea typeface="Artifakt Element Book" panose="020B0503050000020004" pitchFamily="34" charset="0"/>
              </a:rPr>
              <a:t>STATISTICS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DF8543B-C3CE-D02B-16B0-B58A913F906C}"/>
              </a:ext>
            </a:extLst>
          </p:cNvPr>
          <p:cNvSpPr txBox="1"/>
          <p:nvPr/>
        </p:nvSpPr>
        <p:spPr>
          <a:xfrm>
            <a:off x="5364483" y="3481183"/>
            <a:ext cx="145103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rPr sz="1200">
                <a:solidFill>
                  <a:schemeClr val="accent1">
                    <a:lumMod val="75000"/>
                  </a:schemeClr>
                </a:solidFill>
                <a:latin typeface="Artifakt Element Book" panose="020B0503050000020004" pitchFamily="34" charset="0"/>
                <a:ea typeface="Artifakt Element Book" panose="020B0503050000020004" pitchFamily="34" charset="0"/>
              </a:rPr>
              <a:t>Contact summary</a:t>
            </a:r>
          </a:p>
        </p:txBody>
      </p:sp>
      <p:sp>
        <p:nvSpPr>
          <p:cNvPr id="24" name="Rounded Rectangle 26">
            <a:extLst>
              <a:ext uri="{FF2B5EF4-FFF2-40B4-BE49-F238E27FC236}">
                <a16:creationId xmlns:a16="http://schemas.microsoft.com/office/drawing/2014/main" id="{600D1E89-C6D3-4EB6-C9FA-9D8DCDC9E3D1}"/>
              </a:ext>
            </a:extLst>
          </p:cNvPr>
          <p:cNvSpPr/>
          <p:nvPr/>
        </p:nvSpPr>
        <p:spPr>
          <a:xfrm>
            <a:off x="8061960" y="2895248"/>
            <a:ext cx="3108960" cy="1234440"/>
          </a:xfrm>
          <a:prstGeom prst="roundRect">
            <a:avLst/>
          </a:prstGeom>
          <a:solidFill>
            <a:srgbClr val="FFFFFF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76E1061-F53D-82BC-BE80-0A5A96C811D5}"/>
              </a:ext>
            </a:extLst>
          </p:cNvPr>
          <p:cNvSpPr txBox="1"/>
          <p:nvPr/>
        </p:nvSpPr>
        <p:spPr>
          <a:xfrm>
            <a:off x="8359581" y="3032291"/>
            <a:ext cx="2521716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11F36"/>
                </a:solidFill>
                <a:latin typeface="Aptos"/>
              </a:defRPr>
            </a:pPr>
            <a:r>
              <a:rPr sz="2200">
                <a:solidFill>
                  <a:schemeClr val="accent1">
                    <a:lumMod val="50000"/>
                  </a:schemeClr>
                </a:solidFill>
                <a:latin typeface="+mj-lt"/>
                <a:ea typeface="Artifakt Element Book" panose="020B0503050000020004" pitchFamily="34" charset="0"/>
              </a:rPr>
              <a:t>DATA MANAGEMENT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8EBB02D-02A9-1F44-9FF1-0C1DE20A9F70}"/>
              </a:ext>
            </a:extLst>
          </p:cNvPr>
          <p:cNvSpPr txBox="1"/>
          <p:nvPr/>
        </p:nvSpPr>
        <p:spPr>
          <a:xfrm>
            <a:off x="8897505" y="3461721"/>
            <a:ext cx="149111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Artifakt Element Book" panose="020B0503050000020004" pitchFamily="34" charset="0"/>
                <a:ea typeface="Artifakt Element Book" panose="020B0503050000020004" pitchFamily="34" charset="0"/>
              </a:rPr>
              <a:t>File </a:t>
            </a:r>
            <a:r>
              <a:rPr lang="en-IN" sz="1200" dirty="0">
                <a:solidFill>
                  <a:schemeClr val="accent1">
                    <a:lumMod val="75000"/>
                  </a:schemeClr>
                </a:solidFill>
                <a:latin typeface="Artifakt Element Book" panose="020B0503050000020004" pitchFamily="34" charset="0"/>
                <a:ea typeface="Artifakt Element Book" panose="020B0503050000020004" pitchFamily="34" charset="0"/>
              </a:rPr>
              <a:t>,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Artifakt Element Book" panose="020B0503050000020004" pitchFamily="34" charset="0"/>
                <a:ea typeface="Artifakt Element Book" panose="020B0503050000020004" pitchFamily="34" charset="0"/>
              </a:rPr>
              <a:t> Backup </a:t>
            </a:r>
            <a:r>
              <a:rPr lang="en-IN" sz="1200" dirty="0">
                <a:solidFill>
                  <a:schemeClr val="accent1">
                    <a:lumMod val="75000"/>
                  </a:schemeClr>
                </a:solidFill>
                <a:latin typeface="Artifakt Element Book" panose="020B0503050000020004" pitchFamily="34" charset="0"/>
                <a:ea typeface="Artifakt Element Book" panose="020B0503050000020004" pitchFamily="34" charset="0"/>
              </a:rPr>
              <a:t>,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Artifakt Element Book" panose="020B0503050000020004" pitchFamily="34" charset="0"/>
                <a:ea typeface="Artifakt Element Book" panose="020B0503050000020004" pitchFamily="34" charset="0"/>
              </a:rPr>
              <a:t> CSV</a:t>
            </a:r>
          </a:p>
        </p:txBody>
      </p:sp>
      <p:sp>
        <p:nvSpPr>
          <p:cNvPr id="27" name="Rounded Rectangle 30">
            <a:extLst>
              <a:ext uri="{FF2B5EF4-FFF2-40B4-BE49-F238E27FC236}">
                <a16:creationId xmlns:a16="http://schemas.microsoft.com/office/drawing/2014/main" id="{EFFE288A-5631-BEA6-81E7-9A23A792EB42}"/>
              </a:ext>
            </a:extLst>
          </p:cNvPr>
          <p:cNvSpPr/>
          <p:nvPr/>
        </p:nvSpPr>
        <p:spPr>
          <a:xfrm>
            <a:off x="4541520" y="4449728"/>
            <a:ext cx="3108960" cy="1234440"/>
          </a:xfrm>
          <a:prstGeom prst="roundRect">
            <a:avLst/>
          </a:prstGeom>
          <a:solidFill>
            <a:srgbClr val="FFFFFF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706378F-CD13-D337-A2A8-77E5B2C7090E}"/>
              </a:ext>
            </a:extLst>
          </p:cNvPr>
          <p:cNvSpPr txBox="1"/>
          <p:nvPr/>
        </p:nvSpPr>
        <p:spPr>
          <a:xfrm>
            <a:off x="5166892" y="4594760"/>
            <a:ext cx="1522853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11F36"/>
                </a:solidFill>
                <a:latin typeface="Aptos"/>
              </a:defRPr>
            </a:pPr>
            <a:r>
              <a:rPr sz="2200" dirty="0">
                <a:solidFill>
                  <a:schemeClr val="accent1">
                    <a:lumMod val="50000"/>
                  </a:schemeClr>
                </a:solidFill>
                <a:latin typeface="+mj-lt"/>
                <a:ea typeface="Artifakt Element Book" panose="020B0503050000020004" pitchFamily="34" charset="0"/>
              </a:rPr>
              <a:t>VALIDATION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F335B00-78F6-FF18-71F0-AF42353C184A}"/>
              </a:ext>
            </a:extLst>
          </p:cNvPr>
          <p:cNvSpPr txBox="1"/>
          <p:nvPr/>
        </p:nvSpPr>
        <p:spPr>
          <a:xfrm>
            <a:off x="4982808" y="5032179"/>
            <a:ext cx="211788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Artifakt Element Book" panose="020B0503050000020004" pitchFamily="34" charset="0"/>
                <a:ea typeface="Artifakt Element Book" panose="020B0503050000020004" pitchFamily="34" charset="0"/>
              </a:rPr>
              <a:t>Format checks </a:t>
            </a:r>
            <a:r>
              <a:rPr lang="en-IN" sz="1200" dirty="0">
                <a:solidFill>
                  <a:schemeClr val="accent1">
                    <a:lumMod val="75000"/>
                  </a:schemeClr>
                </a:solidFill>
                <a:latin typeface="Artifakt Element Book" panose="020B0503050000020004" pitchFamily="34" charset="0"/>
                <a:ea typeface="Artifakt Element Book" panose="020B0503050000020004" pitchFamily="34" charset="0"/>
              </a:rPr>
              <a:t>,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Artifakt Element Book" panose="020B0503050000020004" pitchFamily="34" charset="0"/>
                <a:ea typeface="Artifakt Element Book" panose="020B0503050000020004" pitchFamily="34" charset="0"/>
              </a:rPr>
              <a:t> Duplicates</a:t>
            </a:r>
          </a:p>
        </p:txBody>
      </p:sp>
    </p:spTree>
    <p:extLst>
      <p:ext uri="{BB962C8B-B14F-4D97-AF65-F5344CB8AC3E}">
        <p14:creationId xmlns:p14="http://schemas.microsoft.com/office/powerpoint/2010/main" val="2524603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93BED3-3708-B161-57B4-F24FEA9BA98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F9D350-2F61-5A5D-FD35-8430A777669A}"/>
              </a:ext>
            </a:extLst>
          </p:cNvPr>
          <p:cNvSpPr txBox="1"/>
          <p:nvPr/>
        </p:nvSpPr>
        <p:spPr>
          <a:xfrm>
            <a:off x="4295800" y="164381"/>
            <a:ext cx="6213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11F36"/>
                </a:solidFill>
                <a:latin typeface="Aptos"/>
              </a:defRPr>
            </a:pPr>
            <a:r>
              <a:rPr lang="en-IN" sz="3200" dirty="0">
                <a:solidFill>
                  <a:schemeClr val="accent1">
                    <a:lumMod val="50000"/>
                  </a:schemeClr>
                </a:solidFill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System Architecture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CBEB234-5BC2-F4A3-67E7-72B612630F72}"/>
              </a:ext>
            </a:extLst>
          </p:cNvPr>
          <p:cNvCxnSpPr>
            <a:cxnSpLocks/>
          </p:cNvCxnSpPr>
          <p:nvPr/>
        </p:nvCxnSpPr>
        <p:spPr>
          <a:xfrm>
            <a:off x="2999656" y="836712"/>
            <a:ext cx="7184557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C8138CB6-8446-8FE3-C337-505282B023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" t="36" b="4851"/>
          <a:stretch>
            <a:fillRect/>
          </a:stretch>
        </p:blipFill>
        <p:spPr>
          <a:xfrm>
            <a:off x="1750262" y="924269"/>
            <a:ext cx="9329755" cy="5933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088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5B438-9730-18B0-60E7-65A45187C07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6E7539-5448-D3F0-7AFE-DF7A15F93C34}"/>
              </a:ext>
            </a:extLst>
          </p:cNvPr>
          <p:cNvSpPr txBox="1"/>
          <p:nvPr/>
        </p:nvSpPr>
        <p:spPr>
          <a:xfrm>
            <a:off x="4511824" y="136525"/>
            <a:ext cx="6213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11F36"/>
                </a:solidFill>
                <a:latin typeface="Aptos"/>
              </a:defRPr>
            </a:pPr>
            <a:r>
              <a:rPr lang="en-IN" sz="3200" dirty="0">
                <a:solidFill>
                  <a:schemeClr val="accent1">
                    <a:lumMod val="50000"/>
                  </a:schemeClr>
                </a:solidFill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System Workflow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9F80742-A222-0886-67AF-621C35C5F91A}"/>
              </a:ext>
            </a:extLst>
          </p:cNvPr>
          <p:cNvCxnSpPr>
            <a:cxnSpLocks/>
          </p:cNvCxnSpPr>
          <p:nvPr/>
        </p:nvCxnSpPr>
        <p:spPr>
          <a:xfrm>
            <a:off x="2999656" y="836712"/>
            <a:ext cx="7184557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176D15F1-1531-5C87-5D0E-3E116D8F006D}"/>
              </a:ext>
            </a:extLst>
          </p:cNvPr>
          <p:cNvGrpSpPr/>
          <p:nvPr/>
        </p:nvGrpSpPr>
        <p:grpSpPr>
          <a:xfrm>
            <a:off x="1150507" y="1419607"/>
            <a:ext cx="10203293" cy="4018786"/>
            <a:chOff x="586627" y="1417320"/>
            <a:chExt cx="10203293" cy="401878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F2236A0-9E75-BF30-8DA1-2D2EA6777666}"/>
                </a:ext>
              </a:extLst>
            </p:cNvPr>
            <p:cNvSpPr/>
            <p:nvPr/>
          </p:nvSpPr>
          <p:spPr>
            <a:xfrm>
              <a:off x="594360" y="1417320"/>
              <a:ext cx="2240280" cy="1078992"/>
            </a:xfrm>
            <a:prstGeom prst="rect">
              <a:avLst/>
            </a:prstGeom>
            <a:solidFill>
              <a:srgbClr val="F8F9FB"/>
            </a:solidFill>
            <a:ln w="15240">
              <a:solidFill>
                <a:srgbClr val="22497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DD6E5BC-2CD4-6D0D-D141-CAAAD57686DF}"/>
                </a:ext>
              </a:extLst>
            </p:cNvPr>
            <p:cNvSpPr/>
            <p:nvPr/>
          </p:nvSpPr>
          <p:spPr>
            <a:xfrm>
              <a:off x="740664" y="1563624"/>
              <a:ext cx="384048" cy="384048"/>
            </a:xfrm>
            <a:prstGeom prst="ellipse">
              <a:avLst/>
            </a:prstGeom>
            <a:solidFill>
              <a:srgbClr val="22497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E97A21E-4600-8DA3-728A-BFCB39E0841F}"/>
                </a:ext>
              </a:extLst>
            </p:cNvPr>
            <p:cNvSpPr txBox="1"/>
            <p:nvPr/>
          </p:nvSpPr>
          <p:spPr>
            <a:xfrm>
              <a:off x="740664" y="1641348"/>
              <a:ext cx="384048" cy="16459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900" b="1">
                  <a:solidFill>
                    <a:srgbClr val="FFFFFF"/>
                  </a:solidFill>
                  <a:latin typeface="Aptos"/>
                </a:defRPr>
              </a:pPr>
              <a:r>
                <a:t>1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BB571AC-5246-DA02-AC5C-5EAF39239394}"/>
                </a:ext>
              </a:extLst>
            </p:cNvPr>
            <p:cNvSpPr txBox="1"/>
            <p:nvPr/>
          </p:nvSpPr>
          <p:spPr>
            <a:xfrm>
              <a:off x="1216152" y="1545336"/>
              <a:ext cx="1490472" cy="38404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300" b="1">
                  <a:solidFill>
                    <a:srgbClr val="232323"/>
                  </a:solidFill>
                  <a:latin typeface="Aptos"/>
                </a:defRPr>
              </a:pPr>
              <a:r>
                <a:t>Load Stored Contacts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B51CCAD-BBB6-BC9D-44D1-8C9C112295E3}"/>
                </a:ext>
              </a:extLst>
            </p:cNvPr>
            <p:cNvSpPr txBox="1"/>
            <p:nvPr/>
          </p:nvSpPr>
          <p:spPr>
            <a:xfrm>
              <a:off x="795528" y="1984248"/>
              <a:ext cx="1837944" cy="42062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000">
                  <a:solidFill>
                    <a:srgbClr val="5A5A5A"/>
                  </a:solidFill>
                  <a:latin typeface="Aptos"/>
                </a:defRPr>
              </a:pPr>
              <a:r>
                <a:t>Read contact data from file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0FBBB43-8CDF-E353-3214-76E04DC7C1B7}"/>
                </a:ext>
              </a:extLst>
            </p:cNvPr>
            <p:cNvSpPr/>
            <p:nvPr/>
          </p:nvSpPr>
          <p:spPr>
            <a:xfrm>
              <a:off x="3246120" y="1417320"/>
              <a:ext cx="2240280" cy="1078992"/>
            </a:xfrm>
            <a:prstGeom prst="rect">
              <a:avLst/>
            </a:prstGeom>
            <a:solidFill>
              <a:srgbClr val="F8F9FB"/>
            </a:solidFill>
            <a:ln w="15240">
              <a:solidFill>
                <a:srgbClr val="22497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EBB0EB9-14C5-77F6-A2EA-27EB5BA344DF}"/>
                </a:ext>
              </a:extLst>
            </p:cNvPr>
            <p:cNvSpPr/>
            <p:nvPr/>
          </p:nvSpPr>
          <p:spPr>
            <a:xfrm>
              <a:off x="3392424" y="1563624"/>
              <a:ext cx="384048" cy="384048"/>
            </a:xfrm>
            <a:prstGeom prst="ellipse">
              <a:avLst/>
            </a:prstGeom>
            <a:solidFill>
              <a:srgbClr val="22497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5000EDE-4E57-343B-EDE6-A90E59551CC6}"/>
                </a:ext>
              </a:extLst>
            </p:cNvPr>
            <p:cNvSpPr txBox="1"/>
            <p:nvPr/>
          </p:nvSpPr>
          <p:spPr>
            <a:xfrm>
              <a:off x="3392424" y="1641348"/>
              <a:ext cx="384048" cy="16459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900" b="1">
                  <a:solidFill>
                    <a:srgbClr val="FFFFFF"/>
                  </a:solidFill>
                  <a:latin typeface="Aptos"/>
                </a:defRPr>
              </a:pPr>
              <a:r>
                <a:t>2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78472DC-0308-6CF1-8034-AA26EDC8B0A6}"/>
                </a:ext>
              </a:extLst>
            </p:cNvPr>
            <p:cNvSpPr txBox="1"/>
            <p:nvPr/>
          </p:nvSpPr>
          <p:spPr>
            <a:xfrm>
              <a:off x="3867911" y="1545336"/>
              <a:ext cx="1490472" cy="38404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300" b="1">
                  <a:solidFill>
                    <a:srgbClr val="232323"/>
                  </a:solidFill>
                  <a:latin typeface="Aptos"/>
                </a:defRPr>
              </a:pPr>
              <a:r>
                <a:t>Display Main Menu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5C9AD52-6233-7F7D-DDEC-DC4A3869CAA5}"/>
                </a:ext>
              </a:extLst>
            </p:cNvPr>
            <p:cNvSpPr txBox="1"/>
            <p:nvPr/>
          </p:nvSpPr>
          <p:spPr>
            <a:xfrm>
              <a:off x="3447288" y="1984248"/>
              <a:ext cx="1837944" cy="42062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000">
                  <a:solidFill>
                    <a:srgbClr val="5A5A5A"/>
                  </a:solidFill>
                  <a:latin typeface="Aptos"/>
                </a:defRPr>
              </a:pPr>
              <a:r>
                <a:t>Show available operations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038EFDA-F7E6-93BE-6766-2FC31CD5CE12}"/>
                </a:ext>
              </a:extLst>
            </p:cNvPr>
            <p:cNvSpPr/>
            <p:nvPr/>
          </p:nvSpPr>
          <p:spPr>
            <a:xfrm>
              <a:off x="5897880" y="1417320"/>
              <a:ext cx="2240280" cy="1078992"/>
            </a:xfrm>
            <a:prstGeom prst="rect">
              <a:avLst/>
            </a:prstGeom>
            <a:solidFill>
              <a:srgbClr val="F8F9FB"/>
            </a:solidFill>
            <a:ln w="15240">
              <a:solidFill>
                <a:srgbClr val="22497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C0D14303-5526-0E9E-9BA1-BC848C0495CA}"/>
                </a:ext>
              </a:extLst>
            </p:cNvPr>
            <p:cNvSpPr/>
            <p:nvPr/>
          </p:nvSpPr>
          <p:spPr>
            <a:xfrm>
              <a:off x="6044184" y="1563624"/>
              <a:ext cx="384048" cy="384048"/>
            </a:xfrm>
            <a:prstGeom prst="ellipse">
              <a:avLst/>
            </a:prstGeom>
            <a:solidFill>
              <a:srgbClr val="22497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6885608-4969-5775-6953-33AD90C2442D}"/>
                </a:ext>
              </a:extLst>
            </p:cNvPr>
            <p:cNvSpPr txBox="1"/>
            <p:nvPr/>
          </p:nvSpPr>
          <p:spPr>
            <a:xfrm>
              <a:off x="6044184" y="1641348"/>
              <a:ext cx="384048" cy="16459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900" b="1">
                  <a:solidFill>
                    <a:srgbClr val="FFFFFF"/>
                  </a:solidFill>
                  <a:latin typeface="Aptos"/>
                </a:defRPr>
              </a:pPr>
              <a:r>
                <a:t>3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762A195-EAB4-136C-EA3C-BC1784C7528C}"/>
                </a:ext>
              </a:extLst>
            </p:cNvPr>
            <p:cNvSpPr txBox="1"/>
            <p:nvPr/>
          </p:nvSpPr>
          <p:spPr>
            <a:xfrm>
              <a:off x="6519672" y="1545336"/>
              <a:ext cx="1490472" cy="38404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300" b="1">
                  <a:solidFill>
                    <a:srgbClr val="232323"/>
                  </a:solidFill>
                  <a:latin typeface="Aptos"/>
                </a:defRPr>
              </a:pPr>
              <a:r>
                <a:t>Select Operation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6289BB7-0093-D81B-43EC-F51DA0E51D1C}"/>
                </a:ext>
              </a:extLst>
            </p:cNvPr>
            <p:cNvSpPr txBox="1"/>
            <p:nvPr/>
          </p:nvSpPr>
          <p:spPr>
            <a:xfrm>
              <a:off x="6099048" y="1984248"/>
              <a:ext cx="1837944" cy="42062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000">
                  <a:solidFill>
                    <a:srgbClr val="5A5A5A"/>
                  </a:solidFill>
                  <a:latin typeface="Aptos"/>
                </a:defRPr>
              </a:pPr>
              <a:r>
                <a:t>User chooses an option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653DCBD-3B98-4E25-2CFA-0E1FE964DFA9}"/>
                </a:ext>
              </a:extLst>
            </p:cNvPr>
            <p:cNvSpPr/>
            <p:nvPr/>
          </p:nvSpPr>
          <p:spPr>
            <a:xfrm>
              <a:off x="8549640" y="1417320"/>
              <a:ext cx="2240280" cy="1078992"/>
            </a:xfrm>
            <a:prstGeom prst="rect">
              <a:avLst/>
            </a:prstGeom>
            <a:solidFill>
              <a:srgbClr val="F8F9FB"/>
            </a:solidFill>
            <a:ln w="15240">
              <a:solidFill>
                <a:srgbClr val="22497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6056B46-CA8C-A0E2-5EFB-BA4B5A16E726}"/>
                </a:ext>
              </a:extLst>
            </p:cNvPr>
            <p:cNvSpPr/>
            <p:nvPr/>
          </p:nvSpPr>
          <p:spPr>
            <a:xfrm>
              <a:off x="8695944" y="1563624"/>
              <a:ext cx="384048" cy="384048"/>
            </a:xfrm>
            <a:prstGeom prst="ellipse">
              <a:avLst/>
            </a:prstGeom>
            <a:solidFill>
              <a:srgbClr val="22497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0A15FC0-5BF7-0D2D-71BF-D478FF8D5E55}"/>
                </a:ext>
              </a:extLst>
            </p:cNvPr>
            <p:cNvSpPr txBox="1"/>
            <p:nvPr/>
          </p:nvSpPr>
          <p:spPr>
            <a:xfrm>
              <a:off x="8695944" y="1641348"/>
              <a:ext cx="384048" cy="16459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900" b="1">
                  <a:solidFill>
                    <a:srgbClr val="FFFFFF"/>
                  </a:solidFill>
                  <a:latin typeface="Aptos"/>
                </a:defRPr>
              </a:pPr>
              <a:r>
                <a:t>4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9F95D33-61F7-6350-B053-8E209F8A7BB9}"/>
                </a:ext>
              </a:extLst>
            </p:cNvPr>
            <p:cNvSpPr txBox="1"/>
            <p:nvPr/>
          </p:nvSpPr>
          <p:spPr>
            <a:xfrm>
              <a:off x="9171432" y="1545336"/>
              <a:ext cx="1490472" cy="38404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300" b="1">
                  <a:solidFill>
                    <a:srgbClr val="232323"/>
                  </a:solidFill>
                  <a:latin typeface="Aptos"/>
                </a:defRPr>
              </a:pPr>
              <a:r>
                <a:t>Validate Input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E4C1078-5415-5F77-A64D-D61567247138}"/>
                </a:ext>
              </a:extLst>
            </p:cNvPr>
            <p:cNvSpPr txBox="1"/>
            <p:nvPr/>
          </p:nvSpPr>
          <p:spPr>
            <a:xfrm>
              <a:off x="8750808" y="1984248"/>
              <a:ext cx="1837944" cy="42062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000">
                  <a:solidFill>
                    <a:srgbClr val="5A5A5A"/>
                  </a:solidFill>
                  <a:latin typeface="Aptos"/>
                </a:defRPr>
              </a:pPr>
              <a:r>
                <a:t>Check format and duplicates</a:t>
              </a:r>
            </a:p>
          </p:txBody>
        </p:sp>
        <p:cxnSp>
          <p:nvCxnSpPr>
            <p:cNvPr id="29" name="Connector 25">
              <a:extLst>
                <a:ext uri="{FF2B5EF4-FFF2-40B4-BE49-F238E27FC236}">
                  <a16:creationId xmlns:a16="http://schemas.microsoft.com/office/drawing/2014/main" id="{127B4480-A884-2307-2AC5-82C42237F0E0}"/>
                </a:ext>
              </a:extLst>
            </p:cNvPr>
            <p:cNvCxnSpPr/>
            <p:nvPr/>
          </p:nvCxnSpPr>
          <p:spPr>
            <a:xfrm>
              <a:off x="2834640" y="1956816"/>
              <a:ext cx="411480" cy="0"/>
            </a:xfrm>
            <a:prstGeom prst="line">
              <a:avLst/>
            </a:prstGeom>
            <a:ln w="20320">
              <a:solidFill>
                <a:srgbClr val="5A5A5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 26">
              <a:extLst>
                <a:ext uri="{FF2B5EF4-FFF2-40B4-BE49-F238E27FC236}">
                  <a16:creationId xmlns:a16="http://schemas.microsoft.com/office/drawing/2014/main" id="{9817A150-85D7-49ED-00F1-8320D89BB198}"/>
                </a:ext>
              </a:extLst>
            </p:cNvPr>
            <p:cNvCxnSpPr/>
            <p:nvPr/>
          </p:nvCxnSpPr>
          <p:spPr>
            <a:xfrm>
              <a:off x="5486400" y="1956816"/>
              <a:ext cx="411480" cy="0"/>
            </a:xfrm>
            <a:prstGeom prst="line">
              <a:avLst/>
            </a:prstGeom>
            <a:ln w="20320">
              <a:solidFill>
                <a:srgbClr val="5A5A5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or 27">
              <a:extLst>
                <a:ext uri="{FF2B5EF4-FFF2-40B4-BE49-F238E27FC236}">
                  <a16:creationId xmlns:a16="http://schemas.microsoft.com/office/drawing/2014/main" id="{C7BBBEF0-8A99-26BB-D7EE-7D1D70F77865}"/>
                </a:ext>
              </a:extLst>
            </p:cNvPr>
            <p:cNvCxnSpPr/>
            <p:nvPr/>
          </p:nvCxnSpPr>
          <p:spPr>
            <a:xfrm>
              <a:off x="8138160" y="1956816"/>
              <a:ext cx="411480" cy="0"/>
            </a:xfrm>
            <a:prstGeom prst="line">
              <a:avLst/>
            </a:prstGeom>
            <a:ln w="20320">
              <a:solidFill>
                <a:srgbClr val="5A5A5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 28">
              <a:extLst>
                <a:ext uri="{FF2B5EF4-FFF2-40B4-BE49-F238E27FC236}">
                  <a16:creationId xmlns:a16="http://schemas.microsoft.com/office/drawing/2014/main" id="{52AD4F11-57F4-CEEE-0A9E-ABAA3C33B7E7}"/>
                </a:ext>
              </a:extLst>
            </p:cNvPr>
            <p:cNvCxnSpPr/>
            <p:nvPr/>
          </p:nvCxnSpPr>
          <p:spPr>
            <a:xfrm>
              <a:off x="9669780" y="2496312"/>
              <a:ext cx="0" cy="384048"/>
            </a:xfrm>
            <a:prstGeom prst="line">
              <a:avLst/>
            </a:prstGeom>
            <a:ln w="20320">
              <a:solidFill>
                <a:srgbClr val="5A5A5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or 29">
              <a:extLst>
                <a:ext uri="{FF2B5EF4-FFF2-40B4-BE49-F238E27FC236}">
                  <a16:creationId xmlns:a16="http://schemas.microsoft.com/office/drawing/2014/main" id="{E367762A-AF95-1403-847D-8B8E93FE33C7}"/>
                </a:ext>
              </a:extLst>
            </p:cNvPr>
            <p:cNvCxnSpPr/>
            <p:nvPr/>
          </p:nvCxnSpPr>
          <p:spPr>
            <a:xfrm flipH="1">
              <a:off x="1719072" y="2880360"/>
              <a:ext cx="7950708" cy="0"/>
            </a:xfrm>
            <a:prstGeom prst="line">
              <a:avLst/>
            </a:prstGeom>
            <a:ln w="20320">
              <a:solidFill>
                <a:srgbClr val="5A5A5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or 30">
              <a:extLst>
                <a:ext uri="{FF2B5EF4-FFF2-40B4-BE49-F238E27FC236}">
                  <a16:creationId xmlns:a16="http://schemas.microsoft.com/office/drawing/2014/main" id="{BF61A1D7-3CC1-6B46-17D5-60002B5053B0}"/>
                </a:ext>
              </a:extLst>
            </p:cNvPr>
            <p:cNvCxnSpPr/>
            <p:nvPr/>
          </p:nvCxnSpPr>
          <p:spPr>
            <a:xfrm>
              <a:off x="1719072" y="2880360"/>
              <a:ext cx="0" cy="365760"/>
            </a:xfrm>
            <a:prstGeom prst="line">
              <a:avLst/>
            </a:prstGeom>
            <a:ln w="20320">
              <a:solidFill>
                <a:srgbClr val="5A5A5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CB95CC4E-D952-BC0E-23B7-D7530D60C1D0}"/>
                </a:ext>
              </a:extLst>
            </p:cNvPr>
            <p:cNvSpPr/>
            <p:nvPr/>
          </p:nvSpPr>
          <p:spPr>
            <a:xfrm>
              <a:off x="594360" y="3246120"/>
              <a:ext cx="2240280" cy="1078992"/>
            </a:xfrm>
            <a:prstGeom prst="rect">
              <a:avLst/>
            </a:prstGeom>
            <a:solidFill>
              <a:srgbClr val="F8F9FB"/>
            </a:solidFill>
            <a:ln w="15240">
              <a:solidFill>
                <a:srgbClr val="22497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F52CA2DA-54A6-B7BF-65EB-059B215AA1C3}"/>
                </a:ext>
              </a:extLst>
            </p:cNvPr>
            <p:cNvSpPr/>
            <p:nvPr/>
          </p:nvSpPr>
          <p:spPr>
            <a:xfrm>
              <a:off x="740664" y="3392424"/>
              <a:ext cx="384048" cy="384048"/>
            </a:xfrm>
            <a:prstGeom prst="ellipse">
              <a:avLst/>
            </a:prstGeom>
            <a:solidFill>
              <a:srgbClr val="22497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C18DA49-8F0A-0BCA-22C3-832A35094F53}"/>
                </a:ext>
              </a:extLst>
            </p:cNvPr>
            <p:cNvSpPr txBox="1"/>
            <p:nvPr/>
          </p:nvSpPr>
          <p:spPr>
            <a:xfrm>
              <a:off x="740664" y="3470148"/>
              <a:ext cx="384048" cy="16459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900" b="1">
                  <a:solidFill>
                    <a:srgbClr val="FFFFFF"/>
                  </a:solidFill>
                  <a:latin typeface="Aptos"/>
                </a:defRPr>
              </a:pPr>
              <a:r>
                <a:t>5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E360B8C-A30A-0E56-61CF-E0B47D36DD7F}"/>
                </a:ext>
              </a:extLst>
            </p:cNvPr>
            <p:cNvSpPr txBox="1"/>
            <p:nvPr/>
          </p:nvSpPr>
          <p:spPr>
            <a:xfrm>
              <a:off x="1216152" y="3374136"/>
              <a:ext cx="1490472" cy="38404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300" b="1">
                  <a:solidFill>
                    <a:srgbClr val="232323"/>
                  </a:solidFill>
                  <a:latin typeface="Aptos"/>
                </a:defRPr>
              </a:pPr>
              <a:r>
                <a:t>Perform Operation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5ABF259-27EC-7D78-2099-E0F738193C59}"/>
                </a:ext>
              </a:extLst>
            </p:cNvPr>
            <p:cNvSpPr txBox="1"/>
            <p:nvPr/>
          </p:nvSpPr>
          <p:spPr>
            <a:xfrm>
              <a:off x="586627" y="3813048"/>
              <a:ext cx="2255747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000">
                  <a:solidFill>
                    <a:srgbClr val="5A5A5A"/>
                  </a:solidFill>
                  <a:latin typeface="Aptos"/>
                </a:defRPr>
              </a:pPr>
              <a:r>
                <a:rPr dirty="0"/>
                <a:t>Add / View / Search / Update / Delete</a:t>
              </a:r>
              <a:r>
                <a:rPr lang="en-IN" dirty="0"/>
                <a:t>/</a:t>
              </a:r>
              <a:br>
                <a:rPr dirty="0"/>
              </a:br>
              <a:r>
                <a:rPr dirty="0"/>
                <a:t>Sort / Category / Favorites / Statistics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61BF528-F9BA-0C8F-AC08-C8948A8FEE0F}"/>
                </a:ext>
              </a:extLst>
            </p:cNvPr>
            <p:cNvSpPr/>
            <p:nvPr/>
          </p:nvSpPr>
          <p:spPr>
            <a:xfrm>
              <a:off x="3246120" y="3246120"/>
              <a:ext cx="2240280" cy="1078992"/>
            </a:xfrm>
            <a:prstGeom prst="rect">
              <a:avLst/>
            </a:prstGeom>
            <a:solidFill>
              <a:srgbClr val="F8F9FB"/>
            </a:solidFill>
            <a:ln w="15240">
              <a:solidFill>
                <a:srgbClr val="22497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DC566D23-09C5-5739-F4F4-E7776845B1FF}"/>
                </a:ext>
              </a:extLst>
            </p:cNvPr>
            <p:cNvSpPr/>
            <p:nvPr/>
          </p:nvSpPr>
          <p:spPr>
            <a:xfrm>
              <a:off x="3392424" y="3392424"/>
              <a:ext cx="384048" cy="384048"/>
            </a:xfrm>
            <a:prstGeom prst="ellipse">
              <a:avLst/>
            </a:prstGeom>
            <a:solidFill>
              <a:srgbClr val="22497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EC331A09-AF05-D266-2725-12F92A43E1AB}"/>
                </a:ext>
              </a:extLst>
            </p:cNvPr>
            <p:cNvSpPr txBox="1"/>
            <p:nvPr/>
          </p:nvSpPr>
          <p:spPr>
            <a:xfrm>
              <a:off x="3392424" y="3470148"/>
              <a:ext cx="384048" cy="16459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900" b="1">
                  <a:solidFill>
                    <a:srgbClr val="FFFFFF"/>
                  </a:solidFill>
                  <a:latin typeface="Aptos"/>
                </a:defRPr>
              </a:pPr>
              <a:r>
                <a:t>6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9D9C6AE-0F7B-D57E-9267-ADF0F0C97F44}"/>
                </a:ext>
              </a:extLst>
            </p:cNvPr>
            <p:cNvSpPr txBox="1"/>
            <p:nvPr/>
          </p:nvSpPr>
          <p:spPr>
            <a:xfrm>
              <a:off x="3867911" y="3374136"/>
              <a:ext cx="1490472" cy="38404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300" b="1">
                  <a:solidFill>
                    <a:srgbClr val="232323"/>
                  </a:solidFill>
                  <a:latin typeface="Aptos"/>
                </a:defRPr>
              </a:pPr>
              <a:r>
                <a:t>Update Contact Data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B8FCFFB-F10A-2988-674C-039CC84A54E9}"/>
                </a:ext>
              </a:extLst>
            </p:cNvPr>
            <p:cNvSpPr txBox="1"/>
            <p:nvPr/>
          </p:nvSpPr>
          <p:spPr>
            <a:xfrm>
              <a:off x="3447288" y="3813048"/>
              <a:ext cx="1837944" cy="42062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000">
                  <a:solidFill>
                    <a:srgbClr val="5A5A5A"/>
                  </a:solidFill>
                  <a:latin typeface="Aptos"/>
                </a:defRPr>
              </a:pPr>
              <a:r>
                <a:t>Modify the selected record in memory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81B32F58-6270-0601-0A59-83BED8E9CAC7}"/>
                </a:ext>
              </a:extLst>
            </p:cNvPr>
            <p:cNvSpPr/>
            <p:nvPr/>
          </p:nvSpPr>
          <p:spPr>
            <a:xfrm>
              <a:off x="5897880" y="3246120"/>
              <a:ext cx="2240280" cy="1078992"/>
            </a:xfrm>
            <a:prstGeom prst="rect">
              <a:avLst/>
            </a:prstGeom>
            <a:solidFill>
              <a:srgbClr val="F8F9FB"/>
            </a:solidFill>
            <a:ln w="15240">
              <a:solidFill>
                <a:srgbClr val="22497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F69A68FE-AD79-051D-E2D1-6B14C57141E7}"/>
                </a:ext>
              </a:extLst>
            </p:cNvPr>
            <p:cNvSpPr/>
            <p:nvPr/>
          </p:nvSpPr>
          <p:spPr>
            <a:xfrm>
              <a:off x="6044184" y="3392424"/>
              <a:ext cx="384048" cy="384048"/>
            </a:xfrm>
            <a:prstGeom prst="ellipse">
              <a:avLst/>
            </a:prstGeom>
            <a:solidFill>
              <a:srgbClr val="22497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9BF21BDA-A45C-657D-9A7B-A40B4204F933}"/>
                </a:ext>
              </a:extLst>
            </p:cNvPr>
            <p:cNvSpPr txBox="1"/>
            <p:nvPr/>
          </p:nvSpPr>
          <p:spPr>
            <a:xfrm>
              <a:off x="6044184" y="3470148"/>
              <a:ext cx="384048" cy="16459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900" b="1">
                  <a:solidFill>
                    <a:srgbClr val="FFFFFF"/>
                  </a:solidFill>
                  <a:latin typeface="Aptos"/>
                </a:defRPr>
              </a:pPr>
              <a:r>
                <a:t>7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9DA4D59-67EA-9FB6-123B-41BBE493927B}"/>
                </a:ext>
              </a:extLst>
            </p:cNvPr>
            <p:cNvSpPr txBox="1"/>
            <p:nvPr/>
          </p:nvSpPr>
          <p:spPr>
            <a:xfrm>
              <a:off x="6519672" y="3374136"/>
              <a:ext cx="1490472" cy="38404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300" b="1">
                  <a:solidFill>
                    <a:srgbClr val="232323"/>
                  </a:solidFill>
                  <a:latin typeface="Aptos"/>
                </a:defRPr>
              </a:pPr>
              <a:r>
                <a:t>Save to File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96828F9-467A-C46B-9D11-B588CC1068DE}"/>
                </a:ext>
              </a:extLst>
            </p:cNvPr>
            <p:cNvSpPr txBox="1"/>
            <p:nvPr/>
          </p:nvSpPr>
          <p:spPr>
            <a:xfrm>
              <a:off x="6099048" y="3813048"/>
              <a:ext cx="1837944" cy="42062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000">
                  <a:solidFill>
                    <a:srgbClr val="5A5A5A"/>
                  </a:solidFill>
                  <a:latin typeface="Aptos"/>
                </a:defRPr>
              </a:pPr>
              <a:r>
                <a:t>Store changes in address_book_data.txt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1A65DF7F-9DD0-6A5C-1B2A-6515ECC06875}"/>
                </a:ext>
              </a:extLst>
            </p:cNvPr>
            <p:cNvSpPr/>
            <p:nvPr/>
          </p:nvSpPr>
          <p:spPr>
            <a:xfrm>
              <a:off x="8549640" y="3246120"/>
              <a:ext cx="2240280" cy="1078992"/>
            </a:xfrm>
            <a:prstGeom prst="rect">
              <a:avLst/>
            </a:prstGeom>
            <a:solidFill>
              <a:srgbClr val="F8F9FB"/>
            </a:solidFill>
            <a:ln w="15240">
              <a:solidFill>
                <a:srgbClr val="22497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B3E159EE-4F9B-EFBE-DCB1-EBF4D97DCB1F}"/>
                </a:ext>
              </a:extLst>
            </p:cNvPr>
            <p:cNvSpPr/>
            <p:nvPr/>
          </p:nvSpPr>
          <p:spPr>
            <a:xfrm>
              <a:off x="8695944" y="3392424"/>
              <a:ext cx="384048" cy="384048"/>
            </a:xfrm>
            <a:prstGeom prst="ellipse">
              <a:avLst/>
            </a:prstGeom>
            <a:solidFill>
              <a:srgbClr val="22497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64D3806-2D42-87F0-35D2-79A46065B985}"/>
                </a:ext>
              </a:extLst>
            </p:cNvPr>
            <p:cNvSpPr txBox="1"/>
            <p:nvPr/>
          </p:nvSpPr>
          <p:spPr>
            <a:xfrm>
              <a:off x="8695944" y="3470148"/>
              <a:ext cx="384048" cy="16459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900" b="1">
                  <a:solidFill>
                    <a:srgbClr val="FFFFFF"/>
                  </a:solidFill>
                  <a:latin typeface="Aptos"/>
                </a:defRPr>
              </a:pPr>
              <a:r>
                <a:t>8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152C7D55-CBA3-1C39-F119-640C7618C523}"/>
                </a:ext>
              </a:extLst>
            </p:cNvPr>
            <p:cNvSpPr txBox="1"/>
            <p:nvPr/>
          </p:nvSpPr>
          <p:spPr>
            <a:xfrm>
              <a:off x="9171432" y="3374136"/>
              <a:ext cx="1490472" cy="38404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300" b="1">
                  <a:solidFill>
                    <a:srgbClr val="232323"/>
                  </a:solidFill>
                  <a:latin typeface="Aptos"/>
                </a:defRPr>
              </a:pPr>
              <a:r>
                <a:t>Display Result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39A55F52-C5BB-538F-10C9-12B30235FC0D}"/>
                </a:ext>
              </a:extLst>
            </p:cNvPr>
            <p:cNvSpPr txBox="1"/>
            <p:nvPr/>
          </p:nvSpPr>
          <p:spPr>
            <a:xfrm>
              <a:off x="8750808" y="3813048"/>
              <a:ext cx="1837944" cy="42062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000">
                  <a:solidFill>
                    <a:srgbClr val="5A5A5A"/>
                  </a:solidFill>
                  <a:latin typeface="Aptos"/>
                </a:defRPr>
              </a:pPr>
              <a:r>
                <a:t>Show success message or output</a:t>
              </a:r>
            </a:p>
          </p:txBody>
        </p:sp>
        <p:cxnSp>
          <p:nvCxnSpPr>
            <p:cNvPr id="55" name="Connector 51">
              <a:extLst>
                <a:ext uri="{FF2B5EF4-FFF2-40B4-BE49-F238E27FC236}">
                  <a16:creationId xmlns:a16="http://schemas.microsoft.com/office/drawing/2014/main" id="{59D15297-16F3-9EA0-5794-22E635D502DA}"/>
                </a:ext>
              </a:extLst>
            </p:cNvPr>
            <p:cNvCxnSpPr/>
            <p:nvPr/>
          </p:nvCxnSpPr>
          <p:spPr>
            <a:xfrm>
              <a:off x="2834640" y="3785615"/>
              <a:ext cx="411480" cy="0"/>
            </a:xfrm>
            <a:prstGeom prst="line">
              <a:avLst/>
            </a:prstGeom>
            <a:ln w="20320">
              <a:solidFill>
                <a:srgbClr val="5A5A5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ctor 52">
              <a:extLst>
                <a:ext uri="{FF2B5EF4-FFF2-40B4-BE49-F238E27FC236}">
                  <a16:creationId xmlns:a16="http://schemas.microsoft.com/office/drawing/2014/main" id="{21D6F7C2-E432-01FD-C608-3E9A6339B4C0}"/>
                </a:ext>
              </a:extLst>
            </p:cNvPr>
            <p:cNvCxnSpPr/>
            <p:nvPr/>
          </p:nvCxnSpPr>
          <p:spPr>
            <a:xfrm>
              <a:off x="5486400" y="3785615"/>
              <a:ext cx="411480" cy="0"/>
            </a:xfrm>
            <a:prstGeom prst="line">
              <a:avLst/>
            </a:prstGeom>
            <a:ln w="20320">
              <a:solidFill>
                <a:srgbClr val="5A5A5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ctor 53">
              <a:extLst>
                <a:ext uri="{FF2B5EF4-FFF2-40B4-BE49-F238E27FC236}">
                  <a16:creationId xmlns:a16="http://schemas.microsoft.com/office/drawing/2014/main" id="{FFE2ACFD-4FF6-52C4-B742-51469C100D86}"/>
                </a:ext>
              </a:extLst>
            </p:cNvPr>
            <p:cNvCxnSpPr/>
            <p:nvPr/>
          </p:nvCxnSpPr>
          <p:spPr>
            <a:xfrm>
              <a:off x="8138160" y="3785615"/>
              <a:ext cx="411480" cy="0"/>
            </a:xfrm>
            <a:prstGeom prst="line">
              <a:avLst/>
            </a:prstGeom>
            <a:ln w="20320">
              <a:solidFill>
                <a:srgbClr val="5A5A5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nector 54">
              <a:extLst>
                <a:ext uri="{FF2B5EF4-FFF2-40B4-BE49-F238E27FC236}">
                  <a16:creationId xmlns:a16="http://schemas.microsoft.com/office/drawing/2014/main" id="{17D20AD2-3D23-81E9-3535-887D79772671}"/>
                </a:ext>
              </a:extLst>
            </p:cNvPr>
            <p:cNvCxnSpPr/>
            <p:nvPr/>
          </p:nvCxnSpPr>
          <p:spPr>
            <a:xfrm>
              <a:off x="9669780" y="4325112"/>
              <a:ext cx="0" cy="292608"/>
            </a:xfrm>
            <a:prstGeom prst="line">
              <a:avLst/>
            </a:prstGeom>
            <a:ln w="20320">
              <a:solidFill>
                <a:srgbClr val="5A5A5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1DAE55D0-DB64-81C9-29F5-750EF2696881}"/>
                </a:ext>
              </a:extLst>
            </p:cNvPr>
            <p:cNvGrpSpPr/>
            <p:nvPr/>
          </p:nvGrpSpPr>
          <p:grpSpPr>
            <a:xfrm>
              <a:off x="8322515" y="4577936"/>
              <a:ext cx="2423160" cy="822960"/>
              <a:chOff x="3657600" y="4736592"/>
              <a:chExt cx="2423160" cy="822960"/>
            </a:xfrm>
          </p:grpSpPr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FC5F530A-0A2B-8A7B-050E-80E862320F72}"/>
                  </a:ext>
                </a:extLst>
              </p:cNvPr>
              <p:cNvSpPr/>
              <p:nvPr/>
            </p:nvSpPr>
            <p:spPr>
              <a:xfrm>
                <a:off x="3657600" y="4736592"/>
                <a:ext cx="2423160" cy="822960"/>
              </a:xfrm>
              <a:prstGeom prst="rect">
                <a:avLst/>
              </a:prstGeom>
              <a:solidFill>
                <a:srgbClr val="F8F9FB"/>
              </a:solidFill>
              <a:ln w="15240">
                <a:solidFill>
                  <a:srgbClr val="22497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927CA17B-0BD2-51DB-64B4-B638ADDACC2B}"/>
                  </a:ext>
                </a:extLst>
              </p:cNvPr>
              <p:cNvSpPr/>
              <p:nvPr/>
            </p:nvSpPr>
            <p:spPr>
              <a:xfrm>
                <a:off x="3803904" y="4882896"/>
                <a:ext cx="384048" cy="384048"/>
              </a:xfrm>
              <a:prstGeom prst="ellipse">
                <a:avLst/>
              </a:prstGeom>
              <a:solidFill>
                <a:srgbClr val="224978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8D2DADB5-E7C2-8E59-FB99-54F1EF202CA0}"/>
                  </a:ext>
                </a:extLst>
              </p:cNvPr>
              <p:cNvSpPr txBox="1"/>
              <p:nvPr/>
            </p:nvSpPr>
            <p:spPr>
              <a:xfrm>
                <a:off x="3803904" y="4960620"/>
                <a:ext cx="384048" cy="16459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>
                  <a:defRPr sz="900" b="1">
                    <a:solidFill>
                      <a:srgbClr val="FFFFFF"/>
                    </a:solidFill>
                    <a:latin typeface="Aptos"/>
                  </a:defRPr>
                </a:pPr>
                <a:r>
                  <a:t>9</a:t>
                </a: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66AD2BA2-6477-6B45-3064-45689F0AA602}"/>
                  </a:ext>
                </a:extLst>
              </p:cNvPr>
              <p:cNvSpPr txBox="1"/>
              <p:nvPr/>
            </p:nvSpPr>
            <p:spPr>
              <a:xfrm>
                <a:off x="4279392" y="4864607"/>
                <a:ext cx="1673352" cy="384048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>
                  <a:defRPr sz="1300" b="1">
                    <a:solidFill>
                      <a:srgbClr val="232323"/>
                    </a:solidFill>
                    <a:latin typeface="Aptos"/>
                  </a:defRPr>
                </a:pPr>
                <a:r>
                  <a:t>Return to Menu</a:t>
                </a: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E7DBAD8-0F6D-A0BB-C8BC-DF89E7D32C99}"/>
                  </a:ext>
                </a:extLst>
              </p:cNvPr>
              <p:cNvSpPr txBox="1"/>
              <p:nvPr/>
            </p:nvSpPr>
            <p:spPr>
              <a:xfrm>
                <a:off x="3858768" y="5303520"/>
                <a:ext cx="2020824" cy="16459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>
                  <a:defRPr sz="1000">
                    <a:solidFill>
                      <a:srgbClr val="5A5A5A"/>
                    </a:solidFill>
                    <a:latin typeface="Aptos"/>
                  </a:defRPr>
                </a:pPr>
                <a:r>
                  <a:t>Continue with another operation</a:t>
                </a:r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8D857DE0-C1C9-49F4-EE8B-DD756C9D7271}"/>
                </a:ext>
              </a:extLst>
            </p:cNvPr>
            <p:cNvGrpSpPr/>
            <p:nvPr/>
          </p:nvGrpSpPr>
          <p:grpSpPr>
            <a:xfrm>
              <a:off x="5426891" y="4613146"/>
              <a:ext cx="2423160" cy="822960"/>
              <a:chOff x="6519672" y="4736592"/>
              <a:chExt cx="2423160" cy="822960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9ACBC599-7440-496B-CBAC-62592BC9B3F5}"/>
                  </a:ext>
                </a:extLst>
              </p:cNvPr>
              <p:cNvSpPr/>
              <p:nvPr/>
            </p:nvSpPr>
            <p:spPr>
              <a:xfrm>
                <a:off x="6519672" y="4736592"/>
                <a:ext cx="2423160" cy="822960"/>
              </a:xfrm>
              <a:prstGeom prst="rect">
                <a:avLst/>
              </a:prstGeom>
              <a:solidFill>
                <a:srgbClr val="F8F9FB"/>
              </a:solidFill>
              <a:ln w="15240">
                <a:solidFill>
                  <a:srgbClr val="22497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ACFA9B31-9093-6794-1635-CB273A66CED4}"/>
                  </a:ext>
                </a:extLst>
              </p:cNvPr>
              <p:cNvSpPr/>
              <p:nvPr/>
            </p:nvSpPr>
            <p:spPr>
              <a:xfrm>
                <a:off x="6684264" y="4882896"/>
                <a:ext cx="384048" cy="384048"/>
              </a:xfrm>
              <a:prstGeom prst="ellipse">
                <a:avLst/>
              </a:prstGeom>
              <a:solidFill>
                <a:srgbClr val="224978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5FD8D38C-CF0E-2DFA-EC84-A6B4AEFB848B}"/>
                  </a:ext>
                </a:extLst>
              </p:cNvPr>
              <p:cNvSpPr txBox="1"/>
              <p:nvPr/>
            </p:nvSpPr>
            <p:spPr>
              <a:xfrm>
                <a:off x="6684264" y="4960620"/>
                <a:ext cx="384048" cy="16459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>
                  <a:defRPr sz="900" b="1">
                    <a:solidFill>
                      <a:srgbClr val="FFFFFF"/>
                    </a:solidFill>
                    <a:latin typeface="Aptos"/>
                  </a:defRPr>
                </a:pPr>
                <a:r>
                  <a:t>10</a:t>
                </a: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F1DA2571-7A38-FFDD-F81F-5BD1664CECF5}"/>
                  </a:ext>
                </a:extLst>
              </p:cNvPr>
              <p:cNvSpPr txBox="1"/>
              <p:nvPr/>
            </p:nvSpPr>
            <p:spPr>
              <a:xfrm>
                <a:off x="7159752" y="4864607"/>
                <a:ext cx="1673352" cy="384048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>
                  <a:defRPr sz="1300" b="1">
                    <a:solidFill>
                      <a:srgbClr val="232323"/>
                    </a:solidFill>
                    <a:latin typeface="Aptos"/>
                  </a:defRPr>
                </a:pPr>
                <a:r>
                  <a:t>Exit</a:t>
                </a: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BA554C3D-9D06-C178-66C3-BF385653118F}"/>
                  </a:ext>
                </a:extLst>
              </p:cNvPr>
              <p:cNvSpPr txBox="1"/>
              <p:nvPr/>
            </p:nvSpPr>
            <p:spPr>
              <a:xfrm>
                <a:off x="6739128" y="5303520"/>
                <a:ext cx="2020824" cy="16459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>
                  <a:defRPr sz="1000">
                    <a:solidFill>
                      <a:srgbClr val="5A5A5A"/>
                    </a:solidFill>
                    <a:latin typeface="Aptos"/>
                  </a:defRPr>
                </a:pPr>
                <a:r>
                  <a:t>End the application</a:t>
                </a:r>
              </a:p>
            </p:txBody>
          </p:sp>
        </p:grpSp>
        <p:cxnSp>
          <p:nvCxnSpPr>
            <p:cNvPr id="61" name="Connector 65">
              <a:extLst>
                <a:ext uri="{FF2B5EF4-FFF2-40B4-BE49-F238E27FC236}">
                  <a16:creationId xmlns:a16="http://schemas.microsoft.com/office/drawing/2014/main" id="{B46DB7B1-8707-0098-F094-3CCCD620C953}"/>
                </a:ext>
              </a:extLst>
            </p:cNvPr>
            <p:cNvCxnSpPr/>
            <p:nvPr/>
          </p:nvCxnSpPr>
          <p:spPr>
            <a:xfrm>
              <a:off x="7865315" y="5031314"/>
              <a:ext cx="457200" cy="0"/>
            </a:xfrm>
            <a:prstGeom prst="line">
              <a:avLst/>
            </a:prstGeom>
            <a:ln w="20320">
              <a:solidFill>
                <a:srgbClr val="5A5A5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58897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D12A57-6386-D624-DF24-A1C1ADA97BE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F73F08-67BC-A6E7-7ACD-7C60857EF4CE}"/>
              </a:ext>
            </a:extLst>
          </p:cNvPr>
          <p:cNvSpPr txBox="1"/>
          <p:nvPr/>
        </p:nvSpPr>
        <p:spPr>
          <a:xfrm>
            <a:off x="4151784" y="260648"/>
            <a:ext cx="6213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11F36"/>
                </a:solidFill>
                <a:latin typeface="Aptos"/>
              </a:defRPr>
            </a:pPr>
            <a:r>
              <a:rPr lang="en-IN" sz="3200" dirty="0">
                <a:solidFill>
                  <a:schemeClr val="accent1">
                    <a:lumMod val="50000"/>
                  </a:schemeClr>
                </a:solidFill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Object-Oriented Design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295C5A-6252-BE37-0AB9-83AFB4695C3B}"/>
              </a:ext>
            </a:extLst>
          </p:cNvPr>
          <p:cNvCxnSpPr>
            <a:cxnSpLocks/>
          </p:cNvCxnSpPr>
          <p:nvPr/>
        </p:nvCxnSpPr>
        <p:spPr>
          <a:xfrm>
            <a:off x="2999656" y="836712"/>
            <a:ext cx="7184557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6">
            <a:extLst>
              <a:ext uri="{FF2B5EF4-FFF2-40B4-BE49-F238E27FC236}">
                <a16:creationId xmlns:a16="http://schemas.microsoft.com/office/drawing/2014/main" id="{E0113AC1-53C2-3580-FB75-26565D585585}"/>
              </a:ext>
            </a:extLst>
          </p:cNvPr>
          <p:cNvSpPr/>
          <p:nvPr/>
        </p:nvSpPr>
        <p:spPr>
          <a:xfrm>
            <a:off x="407368" y="1783851"/>
            <a:ext cx="4892040" cy="3566160"/>
          </a:xfrm>
          <a:prstGeom prst="roundRect">
            <a:avLst/>
          </a:prstGeom>
          <a:solidFill>
            <a:srgbClr val="FFFFFF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384413-5AEA-9E11-B9A2-C888C3712B51}"/>
              </a:ext>
            </a:extLst>
          </p:cNvPr>
          <p:cNvSpPr txBox="1"/>
          <p:nvPr/>
        </p:nvSpPr>
        <p:spPr>
          <a:xfrm>
            <a:off x="695400" y="1792561"/>
            <a:ext cx="1296144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11F36"/>
                </a:solidFill>
                <a:latin typeface="Aptos"/>
              </a:defRPr>
            </a:pPr>
            <a:r>
              <a:rPr dirty="0">
                <a:solidFill>
                  <a:schemeClr val="accent1">
                    <a:lumMod val="50000"/>
                  </a:schemeClr>
                </a:solidFill>
              </a:rPr>
              <a:t>CLASS 1  </a:t>
            </a:r>
            <a:endParaRPr lang="en-IN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17ADEC-FFE7-DF67-2704-8AB19E14BB65}"/>
              </a:ext>
            </a:extLst>
          </p:cNvPr>
          <p:cNvSpPr txBox="1"/>
          <p:nvPr/>
        </p:nvSpPr>
        <p:spPr>
          <a:xfrm>
            <a:off x="671617" y="2189228"/>
            <a:ext cx="3584396" cy="3247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sz="1600" dirty="0">
                <a:solidFill>
                  <a:schemeClr val="accent1">
                    <a:lumMod val="75000"/>
                  </a:schemeClr>
                </a:solidFill>
              </a:rPr>
              <a:t>Represents one contact record.</a:t>
            </a:r>
            <a:br>
              <a:rPr sz="1600" dirty="0">
                <a:solidFill>
                  <a:schemeClr val="accent1">
                    <a:lumMod val="75000"/>
                  </a:schemeClr>
                </a:solidFill>
              </a:rPr>
            </a:br>
            <a:br>
              <a:rPr sz="16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sz="1600" b="1" dirty="0">
                <a:solidFill>
                  <a:schemeClr val="accent1">
                    <a:lumMod val="50000"/>
                  </a:schemeClr>
                </a:solidFill>
              </a:rPr>
              <a:t>Data:</a:t>
            </a:r>
            <a:br>
              <a:rPr sz="1600" dirty="0"/>
            </a:br>
            <a:r>
              <a:rPr sz="1600" dirty="0">
                <a:solidFill>
                  <a:schemeClr val="accent1">
                    <a:lumMod val="75000"/>
                  </a:schemeClr>
                </a:solidFill>
              </a:rPr>
              <a:t>• </a:t>
            </a:r>
            <a:r>
              <a:rPr sz="1600" dirty="0" err="1">
                <a:solidFill>
                  <a:schemeClr val="accent1">
                    <a:lumMod val="75000"/>
                  </a:schemeClr>
                </a:solidFill>
              </a:rPr>
              <a:t>contactID</a:t>
            </a:r>
            <a:br>
              <a:rPr sz="16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sz="1600" dirty="0">
                <a:solidFill>
                  <a:schemeClr val="accent1">
                    <a:lumMod val="75000"/>
                  </a:schemeClr>
                </a:solidFill>
              </a:rPr>
              <a:t>• name / phone / email</a:t>
            </a:r>
            <a:br>
              <a:rPr sz="16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sz="1600" dirty="0">
                <a:solidFill>
                  <a:schemeClr val="accent1">
                    <a:lumMod val="75000"/>
                  </a:schemeClr>
                </a:solidFill>
              </a:rPr>
              <a:t>• address / category</a:t>
            </a:r>
            <a:br>
              <a:rPr sz="16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sz="1600" dirty="0">
                <a:solidFill>
                  <a:schemeClr val="accent1">
                    <a:lumMod val="75000"/>
                  </a:schemeClr>
                </a:solidFill>
              </a:rPr>
              <a:t>• notes / favorite / </a:t>
            </a:r>
            <a:r>
              <a:rPr sz="1600" dirty="0" err="1">
                <a:solidFill>
                  <a:schemeClr val="accent1">
                    <a:lumMod val="75000"/>
                  </a:schemeClr>
                </a:solidFill>
              </a:rPr>
              <a:t>createdAt</a:t>
            </a:r>
            <a:br>
              <a:rPr sz="1600" dirty="0"/>
            </a:br>
            <a:br>
              <a:rPr sz="1600" dirty="0"/>
            </a:br>
            <a:r>
              <a:rPr sz="1600" b="1" dirty="0">
                <a:solidFill>
                  <a:schemeClr val="accent1">
                    <a:lumMod val="50000"/>
                  </a:schemeClr>
                </a:solidFill>
              </a:rPr>
              <a:t>Behavior:</a:t>
            </a:r>
            <a:br>
              <a:rPr sz="1600" dirty="0"/>
            </a:br>
            <a:r>
              <a:rPr lang="en-IN" sz="1600" dirty="0">
                <a:solidFill>
                  <a:schemeClr val="accent1">
                    <a:lumMod val="75000"/>
                  </a:schemeClr>
                </a:solidFill>
              </a:rPr>
              <a:t>Display contact details </a:t>
            </a:r>
          </a:p>
          <a:p>
            <a:pPr lvl="0"/>
            <a:r>
              <a:rPr lang="en-IN" sz="1600" dirty="0">
                <a:solidFill>
                  <a:schemeClr val="accent1">
                    <a:lumMod val="75000"/>
                  </a:schemeClr>
                </a:solidFill>
              </a:rPr>
              <a:t>Update contact information </a:t>
            </a:r>
          </a:p>
          <a:p>
            <a:pPr lvl="0"/>
            <a:r>
              <a:rPr lang="en-IN" sz="1600" dirty="0">
                <a:solidFill>
                  <a:schemeClr val="accent1">
                    <a:lumMod val="75000"/>
                  </a:schemeClr>
                </a:solidFill>
              </a:rPr>
              <a:t>Manage favourite status</a:t>
            </a:r>
          </a:p>
          <a:p>
            <a:pPr algn="l">
              <a:defRPr sz="1300" b="0">
                <a:solidFill>
                  <a:srgbClr val="2D3748"/>
                </a:solidFill>
                <a:latin typeface="Aptos"/>
              </a:defRPr>
            </a:pPr>
            <a:endParaRPr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95AA3E-ED29-4C3E-AB5A-9F9A68D0DD51}"/>
              </a:ext>
            </a:extLst>
          </p:cNvPr>
          <p:cNvSpPr txBox="1"/>
          <p:nvPr/>
        </p:nvSpPr>
        <p:spPr>
          <a:xfrm>
            <a:off x="2285014" y="1940759"/>
            <a:ext cx="11367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accent1">
                    <a:lumMod val="50000"/>
                  </a:schemeClr>
                </a:solidFill>
                <a:latin typeface="Artifakt Element Book" panose="020B0503050000020004" pitchFamily="34" charset="0"/>
                <a:ea typeface="Artifakt Element Book" panose="020B0503050000020004" pitchFamily="34" charset="0"/>
              </a:rPr>
              <a:t>Contact</a:t>
            </a:r>
            <a:endParaRPr lang="en-IN" b="1" dirty="0"/>
          </a:p>
        </p:txBody>
      </p:sp>
      <p:sp>
        <p:nvSpPr>
          <p:cNvPr id="15" name="Rounded Rectangle 10">
            <a:extLst>
              <a:ext uri="{FF2B5EF4-FFF2-40B4-BE49-F238E27FC236}">
                <a16:creationId xmlns:a16="http://schemas.microsoft.com/office/drawing/2014/main" id="{27F19303-BDD0-6EEB-7BBA-813B666FAD4E}"/>
              </a:ext>
            </a:extLst>
          </p:cNvPr>
          <p:cNvSpPr/>
          <p:nvPr/>
        </p:nvSpPr>
        <p:spPr>
          <a:xfrm>
            <a:off x="6421680" y="1792561"/>
            <a:ext cx="5074920" cy="3566160"/>
          </a:xfrm>
          <a:prstGeom prst="roundRect">
            <a:avLst/>
          </a:prstGeom>
          <a:solidFill>
            <a:srgbClr val="FFFFFF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C3BDD0-6EF9-C8CC-DF1A-2FDDC3981289}"/>
              </a:ext>
            </a:extLst>
          </p:cNvPr>
          <p:cNvSpPr txBox="1"/>
          <p:nvPr/>
        </p:nvSpPr>
        <p:spPr>
          <a:xfrm>
            <a:off x="6708914" y="1857936"/>
            <a:ext cx="1099725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111F36"/>
                </a:solidFill>
                <a:latin typeface="Aptos"/>
              </a:defRPr>
            </a:pPr>
            <a:r>
              <a:rPr dirty="0">
                <a:solidFill>
                  <a:schemeClr val="accent1">
                    <a:lumMod val="50000"/>
                  </a:schemeClr>
                </a:solidFill>
              </a:rPr>
              <a:t>CLASS 2 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6B1214-4E02-D39D-6155-278D18FAB974}"/>
              </a:ext>
            </a:extLst>
          </p:cNvPr>
          <p:cNvSpPr txBox="1"/>
          <p:nvPr/>
        </p:nvSpPr>
        <p:spPr>
          <a:xfrm>
            <a:off x="6681987" y="2140814"/>
            <a:ext cx="3962751" cy="34932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/>
            <a:r>
              <a:rPr sz="1600" dirty="0">
                <a:solidFill>
                  <a:schemeClr val="accent1">
                    <a:lumMod val="75000"/>
                  </a:schemeClr>
                </a:solidFill>
              </a:rPr>
              <a:t>Manages the complete collection of contacts.</a:t>
            </a:r>
            <a:br>
              <a:rPr sz="1600" dirty="0"/>
            </a:br>
            <a:br>
              <a:rPr sz="1600" dirty="0"/>
            </a:br>
            <a:r>
              <a:rPr sz="1600" b="1" dirty="0">
                <a:solidFill>
                  <a:schemeClr val="accent1">
                    <a:lumMod val="50000"/>
                  </a:schemeClr>
                </a:solidFill>
              </a:rPr>
              <a:t>Data:</a:t>
            </a:r>
            <a:br>
              <a:rPr sz="1600" dirty="0"/>
            </a:br>
            <a:r>
              <a:rPr sz="1600" dirty="0">
                <a:solidFill>
                  <a:schemeClr val="accent1">
                    <a:lumMod val="75000"/>
                  </a:schemeClr>
                </a:solidFill>
              </a:rPr>
              <a:t>• vector&lt;Contact&gt; contacts</a:t>
            </a:r>
            <a:br>
              <a:rPr sz="16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sz="1600" dirty="0">
                <a:solidFill>
                  <a:schemeClr val="accent1">
                    <a:lumMod val="75000"/>
                  </a:schemeClr>
                </a:solidFill>
              </a:rPr>
              <a:t>• </a:t>
            </a:r>
            <a:r>
              <a:rPr sz="1600" dirty="0" err="1">
                <a:solidFill>
                  <a:schemeClr val="accent1">
                    <a:lumMod val="75000"/>
                  </a:schemeClr>
                </a:solidFill>
              </a:rPr>
              <a:t>nextID</a:t>
            </a:r>
            <a:br>
              <a:rPr sz="1600" dirty="0"/>
            </a:br>
            <a:br>
              <a:rPr sz="1600" dirty="0"/>
            </a:br>
            <a:r>
              <a:rPr sz="1600" b="1" dirty="0">
                <a:solidFill>
                  <a:schemeClr val="accent1">
                    <a:lumMod val="50000"/>
                  </a:schemeClr>
                </a:solidFill>
              </a:rPr>
              <a:t>Behavior:</a:t>
            </a:r>
            <a:br>
              <a:rPr sz="1600" dirty="0"/>
            </a:br>
            <a:r>
              <a:rPr lang="en-IN" sz="1600" dirty="0">
                <a:solidFill>
                  <a:schemeClr val="accent1">
                    <a:lumMod val="75000"/>
                  </a:schemeClr>
                </a:solidFill>
              </a:rPr>
              <a:t>Add and display contacts </a:t>
            </a:r>
          </a:p>
          <a:p>
            <a:pPr lvl="0"/>
            <a:r>
              <a:rPr lang="en-IN" sz="1600" dirty="0">
                <a:solidFill>
                  <a:schemeClr val="accent1">
                    <a:lumMod val="75000"/>
                  </a:schemeClr>
                </a:solidFill>
              </a:rPr>
              <a:t>Search and update contacts </a:t>
            </a:r>
          </a:p>
          <a:p>
            <a:pPr lvl="0"/>
            <a:r>
              <a:rPr lang="en-IN" sz="1600" dirty="0">
                <a:solidFill>
                  <a:schemeClr val="accent1">
                    <a:lumMod val="75000"/>
                  </a:schemeClr>
                </a:solidFill>
              </a:rPr>
              <a:t>Delete contacts </a:t>
            </a:r>
          </a:p>
          <a:p>
            <a:pPr lvl="0"/>
            <a:r>
              <a:rPr lang="en-IN" sz="1600" dirty="0">
                <a:solidFill>
                  <a:schemeClr val="accent1">
                    <a:lumMod val="75000"/>
                  </a:schemeClr>
                </a:solidFill>
              </a:rPr>
              <a:t>Sort and filter contacts </a:t>
            </a:r>
          </a:p>
          <a:p>
            <a:pPr lvl="0"/>
            <a:r>
              <a:rPr lang="en-IN" sz="1600" dirty="0">
                <a:solidFill>
                  <a:schemeClr val="accent1">
                    <a:lumMod val="75000"/>
                  </a:schemeClr>
                </a:solidFill>
              </a:rPr>
              <a:t>Manage </a:t>
            </a:r>
            <a:r>
              <a:rPr lang="en-IN" sz="1600" dirty="0" err="1">
                <a:solidFill>
                  <a:schemeClr val="accent1">
                    <a:lumMod val="75000"/>
                  </a:schemeClr>
                </a:solidFill>
              </a:rPr>
              <a:t>favorites</a:t>
            </a:r>
            <a:r>
              <a:rPr lang="en-IN" sz="1600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lvl="0"/>
            <a:r>
              <a:rPr lang="en-IN" sz="1600" dirty="0">
                <a:solidFill>
                  <a:schemeClr val="accent1">
                    <a:lumMod val="75000"/>
                  </a:schemeClr>
                </a:solidFill>
              </a:rPr>
              <a:t>Save and load contact data</a:t>
            </a:r>
          </a:p>
          <a:p>
            <a:pPr algn="l">
              <a:defRPr sz="1300" b="0">
                <a:solidFill>
                  <a:srgbClr val="2D3748"/>
                </a:solidFill>
                <a:latin typeface="Aptos"/>
              </a:defRPr>
            </a:pPr>
            <a:endParaRPr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D609B2-F5F1-1E18-6A51-37E3E5D3595C}"/>
              </a:ext>
            </a:extLst>
          </p:cNvPr>
          <p:cNvSpPr txBox="1"/>
          <p:nvPr/>
        </p:nvSpPr>
        <p:spPr>
          <a:xfrm>
            <a:off x="8044310" y="1911002"/>
            <a:ext cx="17732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chemeClr val="accent1">
                    <a:lumMod val="50000"/>
                  </a:schemeClr>
                </a:solidFill>
                <a:latin typeface="Artifakt Element Book" panose="020B0503050000020004" pitchFamily="34" charset="0"/>
                <a:ea typeface="Artifakt Element Book" panose="020B0503050000020004" pitchFamily="34" charset="0"/>
              </a:rPr>
              <a:t>AddressBook</a:t>
            </a:r>
            <a:endParaRPr lang="en-IN" b="1" dirty="0">
              <a:solidFill>
                <a:schemeClr val="accent1">
                  <a:lumMod val="50000"/>
                </a:schemeClr>
              </a:solidFill>
              <a:latin typeface="Artifakt Element Book" panose="020B0503050000020004" pitchFamily="34" charset="0"/>
              <a:ea typeface="Artifakt Element Book" panose="020B05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5743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3EE8DB-6765-354B-5E20-AC493D99F1E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5B13DC-27D5-FBB0-6019-7E09E5DD15EF}"/>
              </a:ext>
            </a:extLst>
          </p:cNvPr>
          <p:cNvSpPr txBox="1"/>
          <p:nvPr/>
        </p:nvSpPr>
        <p:spPr>
          <a:xfrm>
            <a:off x="4599146" y="136525"/>
            <a:ext cx="6213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11F36"/>
                </a:solidFill>
                <a:latin typeface="Aptos"/>
              </a:defRPr>
            </a:pPr>
            <a:r>
              <a:rPr lang="en-IN" sz="3200" dirty="0">
                <a:solidFill>
                  <a:schemeClr val="accent1">
                    <a:lumMod val="50000"/>
                  </a:schemeClr>
                </a:solidFill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C++ Concepts Used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708CBF5-2620-83BC-481C-D9BEE004D73E}"/>
              </a:ext>
            </a:extLst>
          </p:cNvPr>
          <p:cNvCxnSpPr>
            <a:cxnSpLocks/>
          </p:cNvCxnSpPr>
          <p:nvPr/>
        </p:nvCxnSpPr>
        <p:spPr>
          <a:xfrm>
            <a:off x="2999656" y="732102"/>
            <a:ext cx="7184557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6">
            <a:extLst>
              <a:ext uri="{FF2B5EF4-FFF2-40B4-BE49-F238E27FC236}">
                <a16:creationId xmlns:a16="http://schemas.microsoft.com/office/drawing/2014/main" id="{2DA77455-9184-FCD1-40EB-A5CC40C1BE93}"/>
              </a:ext>
            </a:extLst>
          </p:cNvPr>
          <p:cNvSpPr/>
          <p:nvPr/>
        </p:nvSpPr>
        <p:spPr>
          <a:xfrm>
            <a:off x="687172" y="1325880"/>
            <a:ext cx="5074920" cy="1828800"/>
          </a:xfrm>
          <a:prstGeom prst="roundRect">
            <a:avLst/>
          </a:prstGeom>
          <a:solidFill>
            <a:srgbClr val="FFFFFF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5BE8AD-399C-9416-5A8A-B944B53FFCAE}"/>
              </a:ext>
            </a:extLst>
          </p:cNvPr>
          <p:cNvSpPr txBox="1"/>
          <p:nvPr/>
        </p:nvSpPr>
        <p:spPr>
          <a:xfrm>
            <a:off x="851763" y="1463039"/>
            <a:ext cx="71846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111F36"/>
                </a:solidFill>
                <a:latin typeface="Aptos"/>
              </a:defRPr>
            </a:pPr>
            <a:r>
              <a:rPr sz="2000" dirty="0">
                <a:solidFill>
                  <a:schemeClr val="accent1">
                    <a:lumMod val="50000"/>
                  </a:schemeClr>
                </a:solidFill>
              </a:rPr>
              <a:t>OOP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735C5D-9C2A-5853-6B9F-1394B8C9A8E1}"/>
              </a:ext>
            </a:extLst>
          </p:cNvPr>
          <p:cNvSpPr txBox="1"/>
          <p:nvPr/>
        </p:nvSpPr>
        <p:spPr>
          <a:xfrm>
            <a:off x="851763" y="1856231"/>
            <a:ext cx="1847557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2D3748"/>
                </a:solidFill>
                <a:latin typeface="Aptos"/>
              </a:defRPr>
            </a:pPr>
            <a:r>
              <a:rPr sz="1600" dirty="0">
                <a:solidFill>
                  <a:schemeClr val="accent1">
                    <a:lumMod val="75000"/>
                  </a:schemeClr>
                </a:solidFill>
              </a:rPr>
              <a:t>Classes &amp; Objects</a:t>
            </a:r>
            <a:br>
              <a:rPr sz="16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sz="1600" dirty="0">
                <a:solidFill>
                  <a:schemeClr val="accent1">
                    <a:lumMod val="75000"/>
                  </a:schemeClr>
                </a:solidFill>
              </a:rPr>
              <a:t>Encapsulation</a:t>
            </a:r>
            <a:br>
              <a:rPr sz="16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sz="1600" dirty="0">
                <a:solidFill>
                  <a:schemeClr val="accent1">
                    <a:lumMod val="75000"/>
                  </a:schemeClr>
                </a:solidFill>
              </a:rPr>
              <a:t>Constructors</a:t>
            </a:r>
            <a:br>
              <a:rPr sz="16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sz="1600" dirty="0">
                <a:solidFill>
                  <a:schemeClr val="accent1">
                    <a:lumMod val="75000"/>
                  </a:schemeClr>
                </a:solidFill>
              </a:rPr>
              <a:t>Member Functions</a:t>
            </a:r>
          </a:p>
        </p:txBody>
      </p:sp>
      <p:sp>
        <p:nvSpPr>
          <p:cNvPr id="15" name="Rounded Rectangle 10">
            <a:extLst>
              <a:ext uri="{FF2B5EF4-FFF2-40B4-BE49-F238E27FC236}">
                <a16:creationId xmlns:a16="http://schemas.microsoft.com/office/drawing/2014/main" id="{A7ED1863-1BB4-41E2-23ED-9F7E239C8C7B}"/>
              </a:ext>
            </a:extLst>
          </p:cNvPr>
          <p:cNvSpPr/>
          <p:nvPr/>
        </p:nvSpPr>
        <p:spPr>
          <a:xfrm>
            <a:off x="6219292" y="1325880"/>
            <a:ext cx="5074920" cy="1828800"/>
          </a:xfrm>
          <a:prstGeom prst="roundRect">
            <a:avLst/>
          </a:prstGeom>
          <a:solidFill>
            <a:srgbClr val="FFFFFF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F6E223-8D91-45F4-25BC-9CC711B43D94}"/>
              </a:ext>
            </a:extLst>
          </p:cNvPr>
          <p:cNvSpPr txBox="1"/>
          <p:nvPr/>
        </p:nvSpPr>
        <p:spPr>
          <a:xfrm>
            <a:off x="6383884" y="1463039"/>
            <a:ext cx="59561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111F36"/>
                </a:solidFill>
                <a:latin typeface="Aptos"/>
              </a:defRPr>
            </a:pPr>
            <a:r>
              <a:rPr sz="2000" dirty="0">
                <a:solidFill>
                  <a:schemeClr val="accent1">
                    <a:lumMod val="50000"/>
                  </a:schemeClr>
                </a:solidFill>
              </a:rPr>
              <a:t>STL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CF8FC5-7664-CF5E-3F24-FDDD51EAC3F5}"/>
              </a:ext>
            </a:extLst>
          </p:cNvPr>
          <p:cNvSpPr txBox="1"/>
          <p:nvPr/>
        </p:nvSpPr>
        <p:spPr>
          <a:xfrm>
            <a:off x="6383884" y="1856231"/>
            <a:ext cx="1673215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2D3748"/>
                </a:solidFill>
                <a:latin typeface="Aptos"/>
              </a:defRPr>
            </a:pPr>
            <a:r>
              <a:rPr sz="1600">
                <a:solidFill>
                  <a:schemeClr val="accent1">
                    <a:lumMod val="75000"/>
                  </a:schemeClr>
                </a:solidFill>
              </a:rPr>
              <a:t>vector&lt;Contact&gt;</a:t>
            </a:r>
            <a:br>
              <a:rPr sz="1600">
                <a:solidFill>
                  <a:schemeClr val="accent1">
                    <a:lumMod val="75000"/>
                  </a:schemeClr>
                </a:solidFill>
              </a:rPr>
            </a:br>
            <a:r>
              <a:rPr sz="1600">
                <a:solidFill>
                  <a:schemeClr val="accent1">
                    <a:lumMod val="75000"/>
                  </a:schemeClr>
                </a:solidFill>
              </a:rPr>
              <a:t>std::sort()</a:t>
            </a:r>
            <a:br>
              <a:rPr sz="1600">
                <a:solidFill>
                  <a:schemeClr val="accent1">
                    <a:lumMod val="75000"/>
                  </a:schemeClr>
                </a:solidFill>
              </a:rPr>
            </a:br>
            <a:r>
              <a:rPr sz="1600">
                <a:solidFill>
                  <a:schemeClr val="accent1">
                    <a:lumMod val="75000"/>
                  </a:schemeClr>
                </a:solidFill>
              </a:rPr>
              <a:t>Algorithms</a:t>
            </a:r>
          </a:p>
        </p:txBody>
      </p:sp>
      <p:sp>
        <p:nvSpPr>
          <p:cNvPr id="21" name="Rounded Rectangle 14">
            <a:extLst>
              <a:ext uri="{FF2B5EF4-FFF2-40B4-BE49-F238E27FC236}">
                <a16:creationId xmlns:a16="http://schemas.microsoft.com/office/drawing/2014/main" id="{689CB6CE-CDE9-A29F-8E15-3F7102F9A435}"/>
              </a:ext>
            </a:extLst>
          </p:cNvPr>
          <p:cNvSpPr/>
          <p:nvPr/>
        </p:nvSpPr>
        <p:spPr>
          <a:xfrm>
            <a:off x="687172" y="3566160"/>
            <a:ext cx="5074920" cy="1828800"/>
          </a:xfrm>
          <a:prstGeom prst="roundRect">
            <a:avLst/>
          </a:prstGeom>
          <a:solidFill>
            <a:srgbClr val="FFFFFF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3CF8E6C-37B9-1647-6061-56199A7EEBBD}"/>
              </a:ext>
            </a:extLst>
          </p:cNvPr>
          <p:cNvSpPr txBox="1"/>
          <p:nvPr/>
        </p:nvSpPr>
        <p:spPr>
          <a:xfrm>
            <a:off x="851763" y="3703320"/>
            <a:ext cx="205703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111F36"/>
                </a:solidFill>
                <a:latin typeface="Aptos"/>
              </a:defRPr>
            </a:pPr>
            <a:r>
              <a:rPr sz="2000" dirty="0">
                <a:solidFill>
                  <a:schemeClr val="accent1">
                    <a:lumMod val="50000"/>
                  </a:schemeClr>
                </a:solidFill>
              </a:rPr>
              <a:t>PROGRAMMING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2AAC1A-B2CC-DEA6-F304-3990B25C269D}"/>
              </a:ext>
            </a:extLst>
          </p:cNvPr>
          <p:cNvSpPr txBox="1"/>
          <p:nvPr/>
        </p:nvSpPr>
        <p:spPr>
          <a:xfrm>
            <a:off x="804671" y="4096512"/>
            <a:ext cx="1276183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2D3748"/>
                </a:solidFill>
                <a:latin typeface="Aptos"/>
              </a:defRPr>
            </a:pPr>
            <a:r>
              <a:rPr sz="1600">
                <a:solidFill>
                  <a:schemeClr val="accent1">
                    <a:lumMod val="75000"/>
                  </a:schemeClr>
                </a:solidFill>
              </a:rPr>
              <a:t>Strings</a:t>
            </a:r>
            <a:br>
              <a:rPr sz="1600">
                <a:solidFill>
                  <a:schemeClr val="accent1">
                    <a:lumMod val="75000"/>
                  </a:schemeClr>
                </a:solidFill>
              </a:rPr>
            </a:br>
            <a:r>
              <a:rPr sz="1600">
                <a:solidFill>
                  <a:schemeClr val="accent1">
                    <a:lumMod val="75000"/>
                  </a:schemeClr>
                </a:solidFill>
              </a:rPr>
              <a:t>Loops</a:t>
            </a:r>
            <a:br>
              <a:rPr sz="1600">
                <a:solidFill>
                  <a:schemeClr val="accent1">
                    <a:lumMod val="75000"/>
                  </a:schemeClr>
                </a:solidFill>
              </a:rPr>
            </a:br>
            <a:r>
              <a:rPr sz="1600">
                <a:solidFill>
                  <a:schemeClr val="accent1">
                    <a:lumMod val="75000"/>
                  </a:schemeClr>
                </a:solidFill>
              </a:rPr>
              <a:t>Conditions</a:t>
            </a:r>
            <a:br>
              <a:rPr sz="1600">
                <a:solidFill>
                  <a:schemeClr val="accent1">
                    <a:lumMod val="75000"/>
                  </a:schemeClr>
                </a:solidFill>
              </a:rPr>
            </a:br>
            <a:r>
              <a:rPr sz="1600">
                <a:solidFill>
                  <a:schemeClr val="accent1">
                    <a:lumMod val="75000"/>
                  </a:schemeClr>
                </a:solidFill>
              </a:rPr>
              <a:t>Switch-case</a:t>
            </a:r>
          </a:p>
        </p:txBody>
      </p:sp>
      <p:sp>
        <p:nvSpPr>
          <p:cNvPr id="27" name="Rounded Rectangle 18">
            <a:extLst>
              <a:ext uri="{FF2B5EF4-FFF2-40B4-BE49-F238E27FC236}">
                <a16:creationId xmlns:a16="http://schemas.microsoft.com/office/drawing/2014/main" id="{501185C5-71DD-C467-6909-5FD0DDB82C3D}"/>
              </a:ext>
            </a:extLst>
          </p:cNvPr>
          <p:cNvSpPr/>
          <p:nvPr/>
        </p:nvSpPr>
        <p:spPr>
          <a:xfrm>
            <a:off x="6219292" y="3566160"/>
            <a:ext cx="5074920" cy="1828800"/>
          </a:xfrm>
          <a:prstGeom prst="roundRect">
            <a:avLst/>
          </a:prstGeom>
          <a:solidFill>
            <a:srgbClr val="FFFFFF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19B601-D009-4BCA-0AAF-99D7A01EF8F3}"/>
              </a:ext>
            </a:extLst>
          </p:cNvPr>
          <p:cNvSpPr txBox="1"/>
          <p:nvPr/>
        </p:nvSpPr>
        <p:spPr>
          <a:xfrm>
            <a:off x="6383884" y="3703320"/>
            <a:ext cx="212648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111F36"/>
                </a:solidFill>
                <a:latin typeface="Aptos"/>
              </a:defRPr>
            </a:pPr>
            <a:r>
              <a:rPr sz="2000" dirty="0">
                <a:solidFill>
                  <a:schemeClr val="accent1">
                    <a:lumMod val="50000"/>
                  </a:schemeClr>
                </a:solidFill>
              </a:rPr>
              <a:t>DATA HANDLING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69C28A9-C58A-8F62-1D53-9F9B1C268E57}"/>
              </a:ext>
            </a:extLst>
          </p:cNvPr>
          <p:cNvSpPr txBox="1"/>
          <p:nvPr/>
        </p:nvSpPr>
        <p:spPr>
          <a:xfrm>
            <a:off x="6383884" y="4096512"/>
            <a:ext cx="1974002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2D3748"/>
                </a:solidFill>
                <a:latin typeface="Aptos"/>
              </a:defRPr>
            </a:pPr>
            <a:r>
              <a:rPr sz="1600">
                <a:solidFill>
                  <a:schemeClr val="accent1">
                    <a:lumMod val="75000"/>
                  </a:schemeClr>
                </a:solidFill>
              </a:rPr>
              <a:t>ifstream / ofstream</a:t>
            </a:r>
            <a:br>
              <a:rPr sz="1600">
                <a:solidFill>
                  <a:schemeClr val="accent1">
                    <a:lumMod val="75000"/>
                  </a:schemeClr>
                </a:solidFill>
              </a:rPr>
            </a:br>
            <a:r>
              <a:rPr sz="1600">
                <a:solidFill>
                  <a:schemeClr val="accent1">
                    <a:lumMod val="75000"/>
                  </a:schemeClr>
                </a:solidFill>
              </a:rPr>
              <a:t>stringstream</a:t>
            </a:r>
            <a:br>
              <a:rPr sz="1600">
                <a:solidFill>
                  <a:schemeClr val="accent1">
                    <a:lumMod val="75000"/>
                  </a:schemeClr>
                </a:solidFill>
              </a:rPr>
            </a:br>
            <a:r>
              <a:rPr sz="1600">
                <a:solidFill>
                  <a:schemeClr val="accent1">
                    <a:lumMod val="75000"/>
                  </a:schemeClr>
                </a:solidFill>
              </a:rPr>
              <a:t>Regular Expressions</a:t>
            </a:r>
          </a:p>
        </p:txBody>
      </p:sp>
    </p:spTree>
    <p:extLst>
      <p:ext uri="{BB962C8B-B14F-4D97-AF65-F5344CB8AC3E}">
        <p14:creationId xmlns:p14="http://schemas.microsoft.com/office/powerpoint/2010/main" val="3559908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8B34E3-3684-E2E4-E2A0-78C3D6D8483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41F88E-CFCC-C350-AE47-19B85194AB94}"/>
              </a:ext>
            </a:extLst>
          </p:cNvPr>
          <p:cNvSpPr txBox="1"/>
          <p:nvPr/>
        </p:nvSpPr>
        <p:spPr>
          <a:xfrm>
            <a:off x="4295800" y="136525"/>
            <a:ext cx="6213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11F36"/>
                </a:solidFill>
                <a:latin typeface="Aptos"/>
              </a:defRPr>
            </a:pPr>
            <a:r>
              <a:rPr lang="en-IN" sz="3200" dirty="0">
                <a:solidFill>
                  <a:schemeClr val="accent1">
                    <a:lumMod val="50000"/>
                  </a:schemeClr>
                </a:solidFill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Key Implementation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46E1E0B-0ED5-6047-982C-A803B6024A34}"/>
              </a:ext>
            </a:extLst>
          </p:cNvPr>
          <p:cNvCxnSpPr>
            <a:cxnSpLocks/>
          </p:cNvCxnSpPr>
          <p:nvPr/>
        </p:nvCxnSpPr>
        <p:spPr>
          <a:xfrm>
            <a:off x="2999656" y="732102"/>
            <a:ext cx="7184557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6">
            <a:extLst>
              <a:ext uri="{FF2B5EF4-FFF2-40B4-BE49-F238E27FC236}">
                <a16:creationId xmlns:a16="http://schemas.microsoft.com/office/drawing/2014/main" id="{BCD36D41-6267-3AA6-F1E9-7001D043B011}"/>
              </a:ext>
            </a:extLst>
          </p:cNvPr>
          <p:cNvSpPr/>
          <p:nvPr/>
        </p:nvSpPr>
        <p:spPr>
          <a:xfrm>
            <a:off x="640080" y="1648152"/>
            <a:ext cx="5486400" cy="1689408"/>
          </a:xfrm>
          <a:prstGeom prst="roundRect">
            <a:avLst>
              <a:gd name="adj" fmla="val 0"/>
            </a:avLst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96A12B-73A2-4CC3-E498-C524D86F592D}"/>
              </a:ext>
            </a:extLst>
          </p:cNvPr>
          <p:cNvSpPr txBox="1"/>
          <p:nvPr/>
        </p:nvSpPr>
        <p:spPr>
          <a:xfrm>
            <a:off x="804671" y="1417320"/>
            <a:ext cx="18473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A0DCE6"/>
                </a:solidFill>
                <a:latin typeface="Aptos"/>
              </a:defRPr>
            </a:pPr>
            <a:endParaRPr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1C653E-A2E2-145E-94CC-D5E37FB3F810}"/>
              </a:ext>
            </a:extLst>
          </p:cNvPr>
          <p:cNvSpPr txBox="1"/>
          <p:nvPr/>
        </p:nvSpPr>
        <p:spPr>
          <a:xfrm>
            <a:off x="804671" y="1709928"/>
            <a:ext cx="5166360" cy="1536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FFFFFF"/>
                </a:solidFill>
                <a:latin typeface="Consolas"/>
              </a:defRPr>
            </a:pPr>
            <a:r>
              <a:t>Contact newContact(</a:t>
            </a:r>
            <a:br/>
            <a:r>
              <a:t>    nextID, name, phone,</a:t>
            </a:r>
            <a:br/>
            <a:r>
              <a:t>    email, address, category</a:t>
            </a:r>
            <a:br/>
            <a:r>
              <a:t>);</a:t>
            </a:r>
            <a:br/>
            <a:br/>
            <a:r>
              <a:t>contacts.push_back(newContact);</a:t>
            </a:r>
            <a:br/>
            <a:r>
              <a:t>nextID++;</a:t>
            </a:r>
            <a:br/>
            <a:r>
              <a:t>saveToFile();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219A72-11FB-356C-BADB-CE9B27037FC7}"/>
              </a:ext>
            </a:extLst>
          </p:cNvPr>
          <p:cNvSpPr txBox="1"/>
          <p:nvPr/>
        </p:nvSpPr>
        <p:spPr>
          <a:xfrm>
            <a:off x="640080" y="1250285"/>
            <a:ext cx="62139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A0DCE6"/>
                </a:solidFill>
                <a:latin typeface="Aptos"/>
              </a:defRPr>
            </a:pPr>
            <a:r>
              <a:rPr lang="en-IN" sz="1600" dirty="0">
                <a:solidFill>
                  <a:schemeClr val="accent1">
                    <a:lumMod val="50000"/>
                  </a:schemeClr>
                </a:solidFill>
                <a:latin typeface="Artifakt Element Book" panose="020B0503050000020004" pitchFamily="34" charset="0"/>
                <a:ea typeface="Artifakt Element Book" panose="020B0503050000020004" pitchFamily="34" charset="0"/>
              </a:rPr>
              <a:t>ADD + STORE CONTACT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3A770E-3F40-DC85-363F-471B9C3EA300}"/>
              </a:ext>
            </a:extLst>
          </p:cNvPr>
          <p:cNvSpPr txBox="1"/>
          <p:nvPr/>
        </p:nvSpPr>
        <p:spPr>
          <a:xfrm>
            <a:off x="506737" y="4138990"/>
            <a:ext cx="96532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A0DCE6"/>
                </a:solidFill>
                <a:latin typeface="Aptos"/>
              </a:defRPr>
            </a:pPr>
            <a:r>
              <a:rPr sz="1600" dirty="0">
                <a:solidFill>
                  <a:schemeClr val="accent1">
                    <a:lumMod val="50000"/>
                  </a:schemeClr>
                </a:solidFill>
                <a:latin typeface="Artifakt Element Book" panose="020B0503050000020004" pitchFamily="34" charset="0"/>
                <a:ea typeface="Artifakt Element Book" panose="020B0503050000020004" pitchFamily="34" charset="0"/>
              </a:rPr>
              <a:t>SEARCH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CDB26CA-0E74-0F02-5893-D0BA07A88085}"/>
              </a:ext>
            </a:extLst>
          </p:cNvPr>
          <p:cNvGrpSpPr/>
          <p:nvPr/>
        </p:nvGrpSpPr>
        <p:grpSpPr>
          <a:xfrm>
            <a:off x="576881" y="4498266"/>
            <a:ext cx="5486400" cy="1627632"/>
            <a:chOff x="640080" y="4134225"/>
            <a:chExt cx="5486400" cy="1627632"/>
          </a:xfrm>
        </p:grpSpPr>
        <p:sp>
          <p:nvSpPr>
            <p:cNvPr id="16" name="Rounded Rectangle 13">
              <a:extLst>
                <a:ext uri="{FF2B5EF4-FFF2-40B4-BE49-F238E27FC236}">
                  <a16:creationId xmlns:a16="http://schemas.microsoft.com/office/drawing/2014/main" id="{14F7C330-CABA-5511-5093-8B85E7FB314A}"/>
                </a:ext>
              </a:extLst>
            </p:cNvPr>
            <p:cNvSpPr/>
            <p:nvPr/>
          </p:nvSpPr>
          <p:spPr>
            <a:xfrm>
              <a:off x="640080" y="4134225"/>
              <a:ext cx="5486400" cy="1209329"/>
            </a:xfrm>
            <a:prstGeom prst="roundRect">
              <a:avLst>
                <a:gd name="adj" fmla="val 0"/>
              </a:avLst>
            </a:prstGeom>
            <a:solidFill>
              <a:srgbClr val="111F3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5C75E05-69C1-5257-A2BD-61D95661A9C4}"/>
                </a:ext>
              </a:extLst>
            </p:cNvPr>
            <p:cNvSpPr txBox="1"/>
            <p:nvPr/>
          </p:nvSpPr>
          <p:spPr>
            <a:xfrm>
              <a:off x="773540" y="4225665"/>
              <a:ext cx="5166360" cy="153619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050">
                  <a:solidFill>
                    <a:srgbClr val="FFFFFF"/>
                  </a:solidFill>
                  <a:latin typeface="Consolas"/>
                </a:defRPr>
              </a:pPr>
              <a:r>
                <a:rPr dirty="0" err="1"/>
                <a:t>getName</a:t>
              </a:r>
              <a:r>
                <a:rPr dirty="0"/>
                <a:t>().find(keyword)</a:t>
              </a:r>
              <a:br>
                <a:rPr dirty="0"/>
              </a:br>
              <a:r>
                <a:rPr dirty="0" err="1"/>
                <a:t>getPhone</a:t>
              </a:r>
              <a:r>
                <a:rPr dirty="0"/>
                <a:t>().find(keyword)</a:t>
              </a:r>
              <a:br>
                <a:rPr dirty="0"/>
              </a:br>
              <a:r>
                <a:rPr dirty="0" err="1"/>
                <a:t>getEmail</a:t>
              </a:r>
              <a:r>
                <a:rPr dirty="0"/>
                <a:t>().find(keyword)</a:t>
              </a:r>
              <a:br>
                <a:rPr dirty="0"/>
              </a:br>
              <a:br>
                <a:rPr dirty="0"/>
              </a:br>
              <a:r>
                <a:rPr dirty="0"/>
                <a:t>// display matching contact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86470923-D415-9FD8-E18A-B1C9DC5A2366}"/>
              </a:ext>
            </a:extLst>
          </p:cNvPr>
          <p:cNvSpPr txBox="1"/>
          <p:nvPr/>
        </p:nvSpPr>
        <p:spPr>
          <a:xfrm>
            <a:off x="531662" y="3367524"/>
            <a:ext cx="93087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Creates a new contact object with the entered details, adds it to the contact list, assigns a unique ID, and saves the updated contact information to the file.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9BE2A23-A739-8A3F-3855-07C05D16BAA8}"/>
              </a:ext>
            </a:extLst>
          </p:cNvPr>
          <p:cNvSpPr txBox="1"/>
          <p:nvPr/>
        </p:nvSpPr>
        <p:spPr>
          <a:xfrm>
            <a:off x="506737" y="5802732"/>
            <a:ext cx="9677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Searches the stored contacts by name, phone number, or email and displays the contact details when a matching record is found.</a:t>
            </a:r>
          </a:p>
        </p:txBody>
      </p:sp>
    </p:spTree>
    <p:extLst>
      <p:ext uri="{BB962C8B-B14F-4D97-AF65-F5344CB8AC3E}">
        <p14:creationId xmlns:p14="http://schemas.microsoft.com/office/powerpoint/2010/main" val="7877185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5CB8B9-E045-DD76-7606-CF756831AF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962C3A-4457-CD25-7F5A-4EA97C53EADF}"/>
              </a:ext>
            </a:extLst>
          </p:cNvPr>
          <p:cNvSpPr txBox="1"/>
          <p:nvPr/>
        </p:nvSpPr>
        <p:spPr>
          <a:xfrm>
            <a:off x="4037345" y="188640"/>
            <a:ext cx="6213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11F36"/>
                </a:solidFill>
                <a:latin typeface="Aptos"/>
              </a:defRPr>
            </a:pPr>
            <a:r>
              <a:rPr lang="en-IN" sz="3200" dirty="0">
                <a:solidFill>
                  <a:schemeClr val="accent1">
                    <a:lumMod val="50000"/>
                  </a:schemeClr>
                </a:solidFill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Organization Features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9EAC1EE-347C-82A8-D35E-977B7D3C9A5F}"/>
              </a:ext>
            </a:extLst>
          </p:cNvPr>
          <p:cNvCxnSpPr>
            <a:cxnSpLocks/>
          </p:cNvCxnSpPr>
          <p:nvPr/>
        </p:nvCxnSpPr>
        <p:spPr>
          <a:xfrm>
            <a:off x="2999656" y="732102"/>
            <a:ext cx="7184557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6">
            <a:extLst>
              <a:ext uri="{FF2B5EF4-FFF2-40B4-BE49-F238E27FC236}">
                <a16:creationId xmlns:a16="http://schemas.microsoft.com/office/drawing/2014/main" id="{7F293AC4-4FF5-BA04-CA3E-CE2ADAF597C6}"/>
              </a:ext>
            </a:extLst>
          </p:cNvPr>
          <p:cNvSpPr/>
          <p:nvPr/>
        </p:nvSpPr>
        <p:spPr>
          <a:xfrm>
            <a:off x="725426" y="1399032"/>
            <a:ext cx="3474720" cy="3840480"/>
          </a:xfrm>
          <a:prstGeom prst="roundRect">
            <a:avLst/>
          </a:prstGeom>
          <a:solidFill>
            <a:srgbClr val="FFFFFF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44E2BC-F96F-BA10-513B-C6F77C70CB8E}"/>
              </a:ext>
            </a:extLst>
          </p:cNvPr>
          <p:cNvSpPr txBox="1"/>
          <p:nvPr/>
        </p:nvSpPr>
        <p:spPr>
          <a:xfrm>
            <a:off x="928120" y="1618488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11F36"/>
                </a:solidFill>
                <a:latin typeface="Aptos"/>
              </a:defRPr>
            </a:pPr>
            <a:r>
              <a:rPr dirty="0"/>
              <a:t>SORTING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E0E405-2EB3-6529-D89E-81DD668F202D}"/>
              </a:ext>
            </a:extLst>
          </p:cNvPr>
          <p:cNvSpPr txBox="1"/>
          <p:nvPr/>
        </p:nvSpPr>
        <p:spPr>
          <a:xfrm>
            <a:off x="1117510" y="2175012"/>
            <a:ext cx="269055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3748"/>
                </a:solidFill>
                <a:latin typeface="Aptos"/>
              </a:defRPr>
            </a:pPr>
            <a:r>
              <a:rPr sz="1600" dirty="0">
                <a:solidFill>
                  <a:schemeClr val="accent1">
                    <a:lumMod val="75000"/>
                  </a:schemeClr>
                </a:solidFill>
              </a:rPr>
              <a:t>std::sort()</a:t>
            </a:r>
            <a:br>
              <a:rPr dirty="0"/>
            </a:br>
            <a:br>
              <a:rPr dirty="0"/>
            </a:br>
            <a:endParaRPr dirty="0"/>
          </a:p>
        </p:txBody>
      </p:sp>
      <p:sp>
        <p:nvSpPr>
          <p:cNvPr id="12" name="Rounded Rectangle 10">
            <a:extLst>
              <a:ext uri="{FF2B5EF4-FFF2-40B4-BE49-F238E27FC236}">
                <a16:creationId xmlns:a16="http://schemas.microsoft.com/office/drawing/2014/main" id="{8B944D17-0F9F-BFAA-CDE8-9A80D29F406F}"/>
              </a:ext>
            </a:extLst>
          </p:cNvPr>
          <p:cNvSpPr/>
          <p:nvPr/>
        </p:nvSpPr>
        <p:spPr>
          <a:xfrm>
            <a:off x="4456178" y="1399032"/>
            <a:ext cx="3474720" cy="3840480"/>
          </a:xfrm>
          <a:prstGeom prst="roundRect">
            <a:avLst/>
          </a:prstGeom>
          <a:solidFill>
            <a:srgbClr val="FFFFFF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B21CD8-0803-71F7-880E-1710072BBCCB}"/>
              </a:ext>
            </a:extLst>
          </p:cNvPr>
          <p:cNvSpPr txBox="1"/>
          <p:nvPr/>
        </p:nvSpPr>
        <p:spPr>
          <a:xfrm>
            <a:off x="4746867" y="1576326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11F36"/>
                </a:solidFill>
                <a:latin typeface="Aptos"/>
              </a:defRPr>
            </a:pPr>
            <a:r>
              <a:rPr dirty="0"/>
              <a:t>CATEGORY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222D41-6AA6-E4C6-8370-2E105E821E44}"/>
              </a:ext>
            </a:extLst>
          </p:cNvPr>
          <p:cNvSpPr txBox="1"/>
          <p:nvPr/>
        </p:nvSpPr>
        <p:spPr>
          <a:xfrm>
            <a:off x="5579876" y="2087628"/>
            <a:ext cx="1376211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2D3748"/>
                </a:solidFill>
                <a:latin typeface="Aptos"/>
              </a:defRPr>
            </a:pPr>
            <a:r>
              <a:rPr sz="1600" dirty="0" err="1">
                <a:solidFill>
                  <a:schemeClr val="accent1">
                    <a:lumMod val="75000"/>
                  </a:schemeClr>
                </a:solidFill>
              </a:rPr>
              <a:t>getCategory</a:t>
            </a:r>
            <a:r>
              <a:rPr sz="1600" dirty="0">
                <a:solidFill>
                  <a:schemeClr val="accent1">
                    <a:lumMod val="75000"/>
                  </a:schemeClr>
                </a:solidFill>
              </a:rPr>
              <a:t>()</a:t>
            </a:r>
            <a:br>
              <a:rPr dirty="0"/>
            </a:br>
            <a:br>
              <a:rPr dirty="0"/>
            </a:br>
            <a:endParaRPr dirty="0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5ABE2D5-70DA-1DC9-9BE1-F34718751603}"/>
              </a:ext>
            </a:extLst>
          </p:cNvPr>
          <p:cNvSpPr/>
          <p:nvPr/>
        </p:nvSpPr>
        <p:spPr>
          <a:xfrm>
            <a:off x="8101583" y="1325880"/>
            <a:ext cx="3474720" cy="3840480"/>
          </a:xfrm>
          <a:prstGeom prst="roundRect">
            <a:avLst/>
          </a:prstGeom>
          <a:solidFill>
            <a:srgbClr val="FFFFFF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8B225A-E796-0897-033A-27E143DD0540}"/>
              </a:ext>
            </a:extLst>
          </p:cNvPr>
          <p:cNvSpPr txBox="1"/>
          <p:nvPr/>
        </p:nvSpPr>
        <p:spPr>
          <a:xfrm>
            <a:off x="8272008" y="1470776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11F36"/>
                </a:solidFill>
                <a:latin typeface="Aptos"/>
              </a:defRPr>
            </a:pPr>
            <a:r>
              <a:rPr dirty="0"/>
              <a:t>FAVORITES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2B0AF8-0527-7BC8-F256-DE3614EDA771}"/>
              </a:ext>
            </a:extLst>
          </p:cNvPr>
          <p:cNvSpPr txBox="1"/>
          <p:nvPr/>
        </p:nvSpPr>
        <p:spPr>
          <a:xfrm>
            <a:off x="8970741" y="2061476"/>
            <a:ext cx="1977016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2D3748"/>
                </a:solidFill>
                <a:latin typeface="Aptos"/>
              </a:defRPr>
            </a:pPr>
            <a:r>
              <a:rPr sz="1600" dirty="0">
                <a:solidFill>
                  <a:schemeClr val="accent1">
                    <a:lumMod val="75000"/>
                  </a:schemeClr>
                </a:solidFill>
              </a:rPr>
              <a:t>favorite = true / false</a:t>
            </a:r>
            <a:br>
              <a:rPr dirty="0"/>
            </a:br>
            <a:br>
              <a:rPr dirty="0"/>
            </a:br>
            <a:endParaRPr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863A02-E08F-D0A0-FC19-D7E95F0400E2}"/>
              </a:ext>
            </a:extLst>
          </p:cNvPr>
          <p:cNvSpPr txBox="1"/>
          <p:nvPr/>
        </p:nvSpPr>
        <p:spPr>
          <a:xfrm>
            <a:off x="2116435" y="5623560"/>
            <a:ext cx="783721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11F36"/>
                </a:solidFill>
                <a:latin typeface="Aptos"/>
              </a:defRPr>
            </a:pPr>
            <a:r>
              <a:rPr sz="2000" dirty="0">
                <a:solidFill>
                  <a:schemeClr val="accent1">
                    <a:lumMod val="50000"/>
                  </a:schemeClr>
                </a:solidFill>
              </a:rPr>
              <a:t>These features extend the system beyond basic CRUD operations.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3FB1D77-5C42-84EF-ADFF-AC6735E59DE2}"/>
              </a:ext>
            </a:extLst>
          </p:cNvPr>
          <p:cNvSpPr txBox="1"/>
          <p:nvPr/>
        </p:nvSpPr>
        <p:spPr>
          <a:xfrm>
            <a:off x="860422" y="2490146"/>
            <a:ext cx="33397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Contacts are arranged alphabetically by name.</a:t>
            </a: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A56602F-777D-AE5B-5FA2-0DE2283D5D00}"/>
              </a:ext>
            </a:extLst>
          </p:cNvPr>
          <p:cNvSpPr txBox="1"/>
          <p:nvPr/>
        </p:nvSpPr>
        <p:spPr>
          <a:xfrm>
            <a:off x="829703" y="3259859"/>
            <a:ext cx="27927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This improves navigation and keeps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the list organized</a:t>
            </a: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B95B8C5-708D-703E-25E8-85FFAF33A0C0}"/>
              </a:ext>
            </a:extLst>
          </p:cNvPr>
          <p:cNvSpPr txBox="1"/>
          <p:nvPr/>
        </p:nvSpPr>
        <p:spPr>
          <a:xfrm>
            <a:off x="4489363" y="2536312"/>
            <a:ext cx="399789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The system filters records according</a:t>
            </a:r>
          </a:p>
          <a:p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 to the selected category.</a:t>
            </a:r>
            <a:br>
              <a:rPr lang="en-US" sz="1800" dirty="0"/>
            </a:br>
            <a:br>
              <a:rPr lang="en-US" sz="1800" dirty="0"/>
            </a:br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3F2AC0-F66D-5DB7-54F5-149920A2FCB7}"/>
              </a:ext>
            </a:extLst>
          </p:cNvPr>
          <p:cNvSpPr txBox="1"/>
          <p:nvPr/>
        </p:nvSpPr>
        <p:spPr>
          <a:xfrm>
            <a:off x="4509313" y="3361744"/>
            <a:ext cx="29055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Example: College , Family ,</a:t>
            </a:r>
          </a:p>
          <a:p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 Friends , Work</a:t>
            </a: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31227A1-C8CC-DC8A-85DA-E780CAE16558}"/>
              </a:ext>
            </a:extLst>
          </p:cNvPr>
          <p:cNvSpPr txBox="1"/>
          <p:nvPr/>
        </p:nvSpPr>
        <p:spPr>
          <a:xfrm>
            <a:off x="8299748" y="2559732"/>
            <a:ext cx="408894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oggleFavorite() changes </a:t>
            </a:r>
          </a:p>
          <a:p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the status and </a:t>
            </a:r>
          </a:p>
          <a:p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viewFavorites() displays only</a:t>
            </a:r>
          </a:p>
          <a:p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 marked contacts.</a:t>
            </a: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38065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C37903-4C4B-DCFE-4FAB-C2E006EF56F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9C9D99-667C-E487-22B3-9EAB5D897659}"/>
              </a:ext>
            </a:extLst>
          </p:cNvPr>
          <p:cNvSpPr txBox="1"/>
          <p:nvPr/>
        </p:nvSpPr>
        <p:spPr>
          <a:xfrm>
            <a:off x="3647728" y="188640"/>
            <a:ext cx="6213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11F36"/>
                </a:solidFill>
                <a:latin typeface="Aptos"/>
              </a:defRPr>
            </a:pPr>
            <a:r>
              <a:rPr lang="en-IN" sz="3200" dirty="0">
                <a:solidFill>
                  <a:schemeClr val="accent1">
                    <a:lumMod val="50000"/>
                  </a:schemeClr>
                </a:solidFill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Persistent Data Management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DF9432-587D-7789-56C6-E0EF101259FD}"/>
              </a:ext>
            </a:extLst>
          </p:cNvPr>
          <p:cNvCxnSpPr>
            <a:cxnSpLocks/>
          </p:cNvCxnSpPr>
          <p:nvPr/>
        </p:nvCxnSpPr>
        <p:spPr>
          <a:xfrm>
            <a:off x="2999656" y="732102"/>
            <a:ext cx="7184557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6">
            <a:extLst>
              <a:ext uri="{FF2B5EF4-FFF2-40B4-BE49-F238E27FC236}">
                <a16:creationId xmlns:a16="http://schemas.microsoft.com/office/drawing/2014/main" id="{3AC2F377-07D1-E902-B443-0D6D74BD315E}"/>
              </a:ext>
            </a:extLst>
          </p:cNvPr>
          <p:cNvSpPr/>
          <p:nvPr/>
        </p:nvSpPr>
        <p:spPr>
          <a:xfrm>
            <a:off x="777240" y="1417320"/>
            <a:ext cx="2011680" cy="731520"/>
          </a:xfrm>
          <a:prstGeom prst="roundRect">
            <a:avLst/>
          </a:prstGeom>
          <a:solidFill>
            <a:srgbClr val="111F36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ED031C-C662-BEE2-8584-B95F3827BC02}"/>
              </a:ext>
            </a:extLst>
          </p:cNvPr>
          <p:cNvSpPr txBox="1"/>
          <p:nvPr/>
        </p:nvSpPr>
        <p:spPr>
          <a:xfrm>
            <a:off x="777240" y="1527048"/>
            <a:ext cx="2011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PROGRAM RUNS</a:t>
            </a:r>
          </a:p>
        </p:txBody>
      </p:sp>
      <p:sp>
        <p:nvSpPr>
          <p:cNvPr id="11" name="Rounded Rectangle 8">
            <a:extLst>
              <a:ext uri="{FF2B5EF4-FFF2-40B4-BE49-F238E27FC236}">
                <a16:creationId xmlns:a16="http://schemas.microsoft.com/office/drawing/2014/main" id="{F5416FB3-DA25-0C0F-7410-9B98FE382E79}"/>
              </a:ext>
            </a:extLst>
          </p:cNvPr>
          <p:cNvSpPr/>
          <p:nvPr/>
        </p:nvSpPr>
        <p:spPr>
          <a:xfrm>
            <a:off x="5074920" y="1417320"/>
            <a:ext cx="2011680" cy="73152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2F798C-2334-8832-3BCF-FCD8C3116967}"/>
              </a:ext>
            </a:extLst>
          </p:cNvPr>
          <p:cNvSpPr txBox="1"/>
          <p:nvPr/>
        </p:nvSpPr>
        <p:spPr>
          <a:xfrm>
            <a:off x="5327990" y="1527048"/>
            <a:ext cx="150554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FA4B4"/>
                </a:solidFill>
                <a:latin typeface="Aptos"/>
              </a:defRPr>
            </a:pP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ADDRESS BOOK</a:t>
            </a:r>
          </a:p>
        </p:txBody>
      </p:sp>
      <p:sp>
        <p:nvSpPr>
          <p:cNvPr id="13" name="Rounded Rectangle 10">
            <a:extLst>
              <a:ext uri="{FF2B5EF4-FFF2-40B4-BE49-F238E27FC236}">
                <a16:creationId xmlns:a16="http://schemas.microsoft.com/office/drawing/2014/main" id="{577F24D7-251D-331B-566A-AA2F6EA67912}"/>
              </a:ext>
            </a:extLst>
          </p:cNvPr>
          <p:cNvSpPr/>
          <p:nvPr/>
        </p:nvSpPr>
        <p:spPr>
          <a:xfrm>
            <a:off x="9266624" y="1358031"/>
            <a:ext cx="2011680" cy="731520"/>
          </a:xfrm>
          <a:prstGeom prst="roundRect">
            <a:avLst/>
          </a:prstGeom>
          <a:solidFill>
            <a:schemeClr val="tx2">
              <a:lumMod val="50000"/>
            </a:schemeClr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F39EA7-D950-9826-012B-AE9CDA9EE330}"/>
              </a:ext>
            </a:extLst>
          </p:cNvPr>
          <p:cNvSpPr txBox="1"/>
          <p:nvPr/>
        </p:nvSpPr>
        <p:spPr>
          <a:xfrm>
            <a:off x="9841271" y="1527048"/>
            <a:ext cx="98289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670BE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DATA FILE</a:t>
            </a:r>
          </a:p>
        </p:txBody>
      </p:sp>
      <p:cxnSp>
        <p:nvCxnSpPr>
          <p:cNvPr id="15" name="Connector 12">
            <a:extLst>
              <a:ext uri="{FF2B5EF4-FFF2-40B4-BE49-F238E27FC236}">
                <a16:creationId xmlns:a16="http://schemas.microsoft.com/office/drawing/2014/main" id="{48A1F292-6774-AF8A-5ADF-9CE676825CE9}"/>
              </a:ext>
            </a:extLst>
          </p:cNvPr>
          <p:cNvCxnSpPr/>
          <p:nvPr/>
        </p:nvCxnSpPr>
        <p:spPr>
          <a:xfrm>
            <a:off x="2788920" y="1783080"/>
            <a:ext cx="2240280" cy="0"/>
          </a:xfrm>
          <a:prstGeom prst="line">
            <a:avLst/>
          </a:prstGeom>
          <a:ln w="22860">
            <a:solidFill>
              <a:srgbClr val="267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3">
            <a:extLst>
              <a:ext uri="{FF2B5EF4-FFF2-40B4-BE49-F238E27FC236}">
                <a16:creationId xmlns:a16="http://schemas.microsoft.com/office/drawing/2014/main" id="{A5B2172D-4A5E-7E2B-164B-A0AAEFC5C123}"/>
              </a:ext>
            </a:extLst>
          </p:cNvPr>
          <p:cNvCxnSpPr/>
          <p:nvPr/>
        </p:nvCxnSpPr>
        <p:spPr>
          <a:xfrm>
            <a:off x="7132320" y="1783080"/>
            <a:ext cx="2148840" cy="0"/>
          </a:xfrm>
          <a:prstGeom prst="line">
            <a:avLst/>
          </a:prstGeom>
          <a:ln w="22860">
            <a:solidFill>
              <a:srgbClr val="267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546ACB7-9E8F-65F2-031D-5FFF510FB140}"/>
              </a:ext>
            </a:extLst>
          </p:cNvPr>
          <p:cNvSpPr txBox="1"/>
          <p:nvPr/>
        </p:nvSpPr>
        <p:spPr>
          <a:xfrm>
            <a:off x="-1323913" y="2219203"/>
            <a:ext cx="621398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670BE"/>
                </a:solidFill>
                <a:latin typeface="Aptos"/>
              </a:defRPr>
            </a:pPr>
            <a:r>
              <a:rPr lang="en-IN" sz="1100" dirty="0">
                <a:solidFill>
                  <a:schemeClr val="accent1">
                    <a:lumMod val="75000"/>
                  </a:schemeClr>
                </a:solidFill>
              </a:rPr>
              <a:t>loadFromFile()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165B6B-6FC1-CA3C-5D1E-2CDC51F02BAD}"/>
              </a:ext>
            </a:extLst>
          </p:cNvPr>
          <p:cNvSpPr txBox="1"/>
          <p:nvPr/>
        </p:nvSpPr>
        <p:spPr>
          <a:xfrm>
            <a:off x="6892626" y="2164226"/>
            <a:ext cx="67596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670BE"/>
                </a:solidFill>
                <a:latin typeface="Aptos"/>
              </a:defRPr>
            </a:pPr>
            <a:r>
              <a:rPr lang="en-IN" sz="1100" dirty="0">
                <a:solidFill>
                  <a:schemeClr val="accent1">
                    <a:lumMod val="75000"/>
                  </a:schemeClr>
                </a:solidFill>
              </a:rPr>
              <a:t>address_book_data.txt</a:t>
            </a:r>
          </a:p>
        </p:txBody>
      </p:sp>
      <p:sp>
        <p:nvSpPr>
          <p:cNvPr id="22" name="Rounded Rectangle 16">
            <a:extLst>
              <a:ext uri="{FF2B5EF4-FFF2-40B4-BE49-F238E27FC236}">
                <a16:creationId xmlns:a16="http://schemas.microsoft.com/office/drawing/2014/main" id="{B5B9D8D8-4E09-E032-9C99-FA1899D41558}"/>
              </a:ext>
            </a:extLst>
          </p:cNvPr>
          <p:cNvSpPr/>
          <p:nvPr/>
        </p:nvSpPr>
        <p:spPr>
          <a:xfrm>
            <a:off x="914400" y="3199816"/>
            <a:ext cx="4754880" cy="1280743"/>
          </a:xfrm>
          <a:prstGeom prst="roundRect">
            <a:avLst>
              <a:gd name="adj" fmla="val 0"/>
            </a:avLst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4A728A-E686-B99A-BC3E-7538DED6951E}"/>
              </a:ext>
            </a:extLst>
          </p:cNvPr>
          <p:cNvSpPr txBox="1"/>
          <p:nvPr/>
        </p:nvSpPr>
        <p:spPr>
          <a:xfrm>
            <a:off x="914400" y="2812979"/>
            <a:ext cx="70487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A0DCE6"/>
                </a:solidFill>
                <a:latin typeface="Aptos"/>
              </a:defRPr>
            </a:pPr>
            <a:r>
              <a:rPr sz="1600" dirty="0">
                <a:solidFill>
                  <a:schemeClr val="accent1">
                    <a:lumMod val="50000"/>
                  </a:schemeClr>
                </a:solidFill>
              </a:rPr>
              <a:t>LOAD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41CB7FB-ADC3-ADD0-31EC-F0AD0D312D09}"/>
              </a:ext>
            </a:extLst>
          </p:cNvPr>
          <p:cNvSpPr txBox="1"/>
          <p:nvPr/>
        </p:nvSpPr>
        <p:spPr>
          <a:xfrm>
            <a:off x="1078992" y="3355848"/>
            <a:ext cx="3265638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FFFFFF"/>
                </a:solidFill>
                <a:latin typeface="Consolas"/>
              </a:defRPr>
            </a:pPr>
            <a:r>
              <a:rPr sz="1400" dirty="0" err="1"/>
              <a:t>ifstream</a:t>
            </a:r>
            <a:r>
              <a:rPr sz="1400" dirty="0"/>
              <a:t> </a:t>
            </a:r>
            <a:r>
              <a:rPr sz="1400" dirty="0" err="1"/>
              <a:t>infile</a:t>
            </a:r>
            <a:r>
              <a:rPr sz="1400" dirty="0"/>
              <a:t>(filename);</a:t>
            </a:r>
            <a:br>
              <a:rPr sz="1400" dirty="0"/>
            </a:br>
            <a:r>
              <a:rPr sz="1400" dirty="0"/>
              <a:t>while (</a:t>
            </a:r>
            <a:r>
              <a:rPr sz="1400" dirty="0" err="1"/>
              <a:t>getline</a:t>
            </a:r>
            <a:r>
              <a:rPr sz="1400" dirty="0"/>
              <a:t>(</a:t>
            </a:r>
            <a:r>
              <a:rPr sz="1400" dirty="0" err="1"/>
              <a:t>infile</a:t>
            </a:r>
            <a:r>
              <a:rPr sz="1400" dirty="0"/>
              <a:t>, line)) {</a:t>
            </a:r>
            <a:br>
              <a:rPr sz="1400" dirty="0"/>
            </a:br>
            <a:r>
              <a:rPr sz="1400" dirty="0"/>
              <a:t>    // read stored record</a:t>
            </a:r>
            <a:br>
              <a:rPr sz="1400" dirty="0"/>
            </a:br>
            <a:r>
              <a:rPr sz="1400" dirty="0"/>
              <a:t>}</a:t>
            </a:r>
          </a:p>
        </p:txBody>
      </p:sp>
      <p:sp>
        <p:nvSpPr>
          <p:cNvPr id="25" name="Rounded Rectangle 19">
            <a:extLst>
              <a:ext uri="{FF2B5EF4-FFF2-40B4-BE49-F238E27FC236}">
                <a16:creationId xmlns:a16="http://schemas.microsoft.com/office/drawing/2014/main" id="{292115C2-4038-BB83-C445-35F1F3628A36}"/>
              </a:ext>
            </a:extLst>
          </p:cNvPr>
          <p:cNvSpPr/>
          <p:nvPr/>
        </p:nvSpPr>
        <p:spPr>
          <a:xfrm>
            <a:off x="6463226" y="3158505"/>
            <a:ext cx="4754880" cy="1346364"/>
          </a:xfrm>
          <a:prstGeom prst="roundRect">
            <a:avLst>
              <a:gd name="adj" fmla="val 0"/>
            </a:avLst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1E28542-BC97-E90D-1297-49838FE7DAA6}"/>
              </a:ext>
            </a:extLst>
          </p:cNvPr>
          <p:cNvSpPr txBox="1"/>
          <p:nvPr/>
        </p:nvSpPr>
        <p:spPr>
          <a:xfrm>
            <a:off x="6394613" y="2795520"/>
            <a:ext cx="66909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A0DCE6"/>
                </a:solidFill>
                <a:latin typeface="Aptos"/>
              </a:defRPr>
            </a:pPr>
            <a:r>
              <a:rPr sz="1600" dirty="0">
                <a:solidFill>
                  <a:schemeClr val="accent1">
                    <a:lumMod val="50000"/>
                  </a:schemeClr>
                </a:solidFill>
              </a:rPr>
              <a:t>SAVE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0D5A016-8FFA-4270-67C6-163FB456DBEB}"/>
              </a:ext>
            </a:extLst>
          </p:cNvPr>
          <p:cNvSpPr txBox="1"/>
          <p:nvPr/>
        </p:nvSpPr>
        <p:spPr>
          <a:xfrm>
            <a:off x="6611112" y="3355848"/>
            <a:ext cx="2868093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FFFFFF"/>
                </a:solidFill>
                <a:latin typeface="Consolas"/>
              </a:defRPr>
            </a:pPr>
            <a:r>
              <a:rPr sz="1400" dirty="0" err="1"/>
              <a:t>ofstream</a:t>
            </a:r>
            <a:r>
              <a:rPr sz="1400" dirty="0"/>
              <a:t> </a:t>
            </a:r>
            <a:r>
              <a:rPr sz="1400" dirty="0" err="1"/>
              <a:t>outfile</a:t>
            </a:r>
            <a:r>
              <a:rPr sz="1400" dirty="0"/>
              <a:t>(filename);</a:t>
            </a:r>
            <a:br>
              <a:rPr sz="1400" dirty="0"/>
            </a:br>
            <a:r>
              <a:rPr sz="1400" dirty="0" err="1"/>
              <a:t>outfile</a:t>
            </a:r>
            <a:r>
              <a:rPr sz="1400" dirty="0"/>
              <a:t> &lt;&lt; </a:t>
            </a:r>
            <a:r>
              <a:rPr sz="1400" dirty="0" err="1"/>
              <a:t>nextID</a:t>
            </a:r>
            <a:r>
              <a:rPr sz="1400" dirty="0"/>
              <a:t> &lt;&lt; "\n";</a:t>
            </a:r>
            <a:br>
              <a:rPr sz="1400" dirty="0"/>
            </a:br>
            <a:r>
              <a:rPr sz="1400" dirty="0"/>
              <a:t>// write contact records</a:t>
            </a:r>
            <a:br>
              <a:rPr sz="1400" dirty="0"/>
            </a:br>
            <a:r>
              <a:rPr sz="1400" dirty="0" err="1"/>
              <a:t>outfile.close</a:t>
            </a:r>
            <a:r>
              <a:rPr sz="1400" dirty="0"/>
              <a:t>();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B8E1AFE-2022-A464-9780-454B9DA13956}"/>
              </a:ext>
            </a:extLst>
          </p:cNvPr>
          <p:cNvSpPr txBox="1"/>
          <p:nvPr/>
        </p:nvSpPr>
        <p:spPr>
          <a:xfrm>
            <a:off x="777240" y="505465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D3748"/>
                </a:solidFill>
                <a:latin typeface="Aptos"/>
              </a:defRPr>
            </a:pPr>
            <a:r>
              <a:rPr dirty="0"/>
              <a:t>Additional data management:  Backup Contacts  •  Export Contacts to CSV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3C0BBA9-2FEC-B208-82A2-353700B5E359}"/>
              </a:ext>
            </a:extLst>
          </p:cNvPr>
          <p:cNvSpPr txBox="1"/>
          <p:nvPr/>
        </p:nvSpPr>
        <p:spPr>
          <a:xfrm>
            <a:off x="2725549" y="5532120"/>
            <a:ext cx="680186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670BE"/>
                </a:solidFill>
                <a:latin typeface="Aptos"/>
              </a:defRPr>
            </a:pPr>
            <a:r>
              <a:rPr dirty="0">
                <a:solidFill>
                  <a:schemeClr val="accent1">
                    <a:lumMod val="75000"/>
                  </a:schemeClr>
                </a:solidFill>
                <a:latin typeface="Artifakt Element Book" panose="020B0503050000020004" pitchFamily="34" charset="0"/>
                <a:ea typeface="Artifakt Element Book" panose="020B0503050000020004" pitchFamily="34" charset="0"/>
              </a:rPr>
              <a:t>Result: contact information remains available after the application is closed and reopened.</a:t>
            </a:r>
          </a:p>
        </p:txBody>
      </p:sp>
    </p:spTree>
    <p:extLst>
      <p:ext uri="{BB962C8B-B14F-4D97-AF65-F5344CB8AC3E}">
        <p14:creationId xmlns:p14="http://schemas.microsoft.com/office/powerpoint/2010/main" val="5636008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1D8F91-DBFB-0C56-C5A0-F0C83DDE723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285E15-9268-2DAD-BF26-7A688A6845F2}"/>
              </a:ext>
            </a:extLst>
          </p:cNvPr>
          <p:cNvSpPr txBox="1"/>
          <p:nvPr/>
        </p:nvSpPr>
        <p:spPr>
          <a:xfrm>
            <a:off x="4599146" y="137820"/>
            <a:ext cx="43771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11F36"/>
                </a:solidFill>
                <a:latin typeface="Aptos"/>
              </a:defRPr>
            </a:pPr>
            <a:r>
              <a:rPr lang="en-IN" sz="3200" dirty="0">
                <a:solidFill>
                  <a:schemeClr val="accent1">
                    <a:lumMod val="50000"/>
                  </a:schemeClr>
                </a:solidFill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Testing &amp; Validation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5207B2-CF1A-27B3-25B3-A0437D415654}"/>
              </a:ext>
            </a:extLst>
          </p:cNvPr>
          <p:cNvCxnSpPr>
            <a:cxnSpLocks/>
          </p:cNvCxnSpPr>
          <p:nvPr/>
        </p:nvCxnSpPr>
        <p:spPr>
          <a:xfrm>
            <a:off x="2999656" y="732102"/>
            <a:ext cx="7184557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EE9D335-1147-E0CC-4568-C5F244C12DCF}"/>
              </a:ext>
            </a:extLst>
          </p:cNvPr>
          <p:cNvSpPr txBox="1"/>
          <p:nvPr/>
        </p:nvSpPr>
        <p:spPr>
          <a:xfrm>
            <a:off x="815340" y="1484784"/>
            <a:ext cx="18745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D69BE"/>
                </a:solidFill>
                <a:latin typeface="Aptos"/>
              </a:defRPr>
            </a:pPr>
            <a:r>
              <a:t>TEST CASE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6B4C2E-CDCC-8D0A-F5FE-7B0397963202}"/>
              </a:ext>
            </a:extLst>
          </p:cNvPr>
          <p:cNvSpPr txBox="1"/>
          <p:nvPr/>
        </p:nvSpPr>
        <p:spPr>
          <a:xfrm>
            <a:off x="2689859" y="1484784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D69BE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1DC841-6047-A1AC-55BE-DD64FFA5341D}"/>
              </a:ext>
            </a:extLst>
          </p:cNvPr>
          <p:cNvSpPr txBox="1"/>
          <p:nvPr/>
        </p:nvSpPr>
        <p:spPr>
          <a:xfrm>
            <a:off x="4930140" y="1484784"/>
            <a:ext cx="3703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D69BE"/>
                </a:solidFill>
                <a:latin typeface="Aptos"/>
              </a:defRPr>
            </a:pPr>
            <a:r>
              <a:t>EXPECTED RESULT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267A88-69B9-864B-BF16-330C5D607C72}"/>
              </a:ext>
            </a:extLst>
          </p:cNvPr>
          <p:cNvSpPr txBox="1"/>
          <p:nvPr/>
        </p:nvSpPr>
        <p:spPr>
          <a:xfrm>
            <a:off x="8633460" y="1484784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D69BE"/>
                </a:solidFill>
                <a:latin typeface="Aptos"/>
              </a:defRPr>
            </a:pPr>
            <a:r>
              <a:t>TYPE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10C765-54C1-C6B5-6EC0-0E7F698D3878}"/>
              </a:ext>
            </a:extLst>
          </p:cNvPr>
          <p:cNvSpPr txBox="1"/>
          <p:nvPr/>
        </p:nvSpPr>
        <p:spPr>
          <a:xfrm>
            <a:off x="10462260" y="1484784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D69BE"/>
                </a:solidFill>
                <a:latin typeface="Aptos"/>
              </a:defRPr>
            </a:pPr>
            <a:r>
              <a:t>STATUS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CF48C9-0DEB-1D28-4C08-6E0F6B5996A4}"/>
              </a:ext>
            </a:extLst>
          </p:cNvPr>
          <p:cNvSpPr/>
          <p:nvPr/>
        </p:nvSpPr>
        <p:spPr>
          <a:xfrm>
            <a:off x="742188" y="1845972"/>
            <a:ext cx="10707624" cy="393192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DD4CB8-4667-78C3-060B-766663389A53}"/>
              </a:ext>
            </a:extLst>
          </p:cNvPr>
          <p:cNvSpPr txBox="1"/>
          <p:nvPr/>
        </p:nvSpPr>
        <p:spPr>
          <a:xfrm>
            <a:off x="815340" y="1914552"/>
            <a:ext cx="180136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B3748"/>
                </a:solidFill>
                <a:latin typeface="Aptos"/>
              </a:defRPr>
            </a:pPr>
            <a:r>
              <a:t>Add Contact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63D7EB-8A87-C94D-BD99-5D7C8A388164}"/>
              </a:ext>
            </a:extLst>
          </p:cNvPr>
          <p:cNvSpPr txBox="1"/>
          <p:nvPr/>
        </p:nvSpPr>
        <p:spPr>
          <a:xfrm>
            <a:off x="2689859" y="1914552"/>
            <a:ext cx="216712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2B3748"/>
                </a:solidFill>
                <a:latin typeface="Aptos"/>
              </a:defRPr>
            </a:pPr>
            <a:r>
              <a:t>Valid contact details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B5599D-00D0-0E4A-39C7-150060CA6432}"/>
              </a:ext>
            </a:extLst>
          </p:cNvPr>
          <p:cNvSpPr txBox="1"/>
          <p:nvPr/>
        </p:nvSpPr>
        <p:spPr>
          <a:xfrm>
            <a:off x="4930140" y="1914552"/>
            <a:ext cx="36301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2B3748"/>
                </a:solidFill>
                <a:latin typeface="Aptos"/>
              </a:defRPr>
            </a:pPr>
            <a:r>
              <a:t>Contact added successfully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E35071B-89FA-CB2E-92C2-144AA428742E}"/>
              </a:ext>
            </a:extLst>
          </p:cNvPr>
          <p:cNvSpPr txBox="1"/>
          <p:nvPr/>
        </p:nvSpPr>
        <p:spPr>
          <a:xfrm>
            <a:off x="8633460" y="1914552"/>
            <a:ext cx="17556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2B3748"/>
                </a:solidFill>
                <a:latin typeface="Aptos"/>
              </a:defRPr>
            </a:pPr>
            <a:r>
              <a:t>Functional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127B4E-2FF0-786C-40C0-5AE7310DD40B}"/>
              </a:ext>
            </a:extLst>
          </p:cNvPr>
          <p:cNvSpPr txBox="1"/>
          <p:nvPr/>
        </p:nvSpPr>
        <p:spPr>
          <a:xfrm>
            <a:off x="10462260" y="1914552"/>
            <a:ext cx="8412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2B3748"/>
                </a:solidFill>
                <a:latin typeface="Aptos"/>
              </a:defRPr>
            </a:pPr>
            <a:r>
              <a:t>PASS</a:t>
            </a:r>
          </a:p>
        </p:txBody>
      </p:sp>
      <p:sp>
        <p:nvSpPr>
          <p:cNvPr id="20" name="Rounded Rectangle 25">
            <a:extLst>
              <a:ext uri="{FF2B5EF4-FFF2-40B4-BE49-F238E27FC236}">
                <a16:creationId xmlns:a16="http://schemas.microsoft.com/office/drawing/2014/main" id="{A80C4AC3-522A-2441-BDF2-6712F41B48DB}"/>
              </a:ext>
            </a:extLst>
          </p:cNvPr>
          <p:cNvSpPr/>
          <p:nvPr/>
        </p:nvSpPr>
        <p:spPr>
          <a:xfrm>
            <a:off x="10480548" y="1891692"/>
            <a:ext cx="658368" cy="265176"/>
          </a:xfrm>
          <a:prstGeom prst="roundRect">
            <a:avLst/>
          </a:prstGeom>
          <a:solidFill>
            <a:srgbClr val="E8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6915C"/>
                </a:solidFill>
                <a:latin typeface="Aptos"/>
              </a:defRPr>
            </a:pPr>
            <a:r>
              <a:t>PASS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8A6C15-91A2-2D53-7E07-8FAD75796EEE}"/>
              </a:ext>
            </a:extLst>
          </p:cNvPr>
          <p:cNvSpPr txBox="1"/>
          <p:nvPr/>
        </p:nvSpPr>
        <p:spPr>
          <a:xfrm>
            <a:off x="815340" y="2307744"/>
            <a:ext cx="180136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B3748"/>
                </a:solidFill>
                <a:latin typeface="Aptos"/>
              </a:defRPr>
            </a:pPr>
            <a:r>
              <a:t>Invalid Phone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03550C-B080-100E-AA0D-8D618BBB8625}"/>
              </a:ext>
            </a:extLst>
          </p:cNvPr>
          <p:cNvSpPr txBox="1"/>
          <p:nvPr/>
        </p:nvSpPr>
        <p:spPr>
          <a:xfrm>
            <a:off x="2689859" y="2307744"/>
            <a:ext cx="216712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2B3748"/>
                </a:solidFill>
                <a:latin typeface="Aptos"/>
              </a:defRPr>
            </a:pPr>
            <a:r>
              <a:t>12345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9579E8-9AF9-2846-77AB-2CD5FFD4659C}"/>
              </a:ext>
            </a:extLst>
          </p:cNvPr>
          <p:cNvSpPr txBox="1"/>
          <p:nvPr/>
        </p:nvSpPr>
        <p:spPr>
          <a:xfrm>
            <a:off x="4930140" y="2307744"/>
            <a:ext cx="36301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2B3748"/>
                </a:solidFill>
                <a:latin typeface="Aptos"/>
              </a:defRPr>
            </a:pPr>
            <a:r>
              <a:t>Error message displayed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5AB93E-5A06-E5EA-B265-D628D62A85BB}"/>
              </a:ext>
            </a:extLst>
          </p:cNvPr>
          <p:cNvSpPr txBox="1"/>
          <p:nvPr/>
        </p:nvSpPr>
        <p:spPr>
          <a:xfrm>
            <a:off x="8633460" y="2307744"/>
            <a:ext cx="17556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BE4B4B"/>
                </a:solidFill>
                <a:latin typeface="Aptos"/>
              </a:defRPr>
            </a:pPr>
            <a:r>
              <a:t>Negative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0F96162-C739-3AEA-623E-465AE3CABF3C}"/>
              </a:ext>
            </a:extLst>
          </p:cNvPr>
          <p:cNvSpPr txBox="1"/>
          <p:nvPr/>
        </p:nvSpPr>
        <p:spPr>
          <a:xfrm>
            <a:off x="10462260" y="2307744"/>
            <a:ext cx="8412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2B3748"/>
                </a:solidFill>
                <a:latin typeface="Aptos"/>
              </a:defRPr>
            </a:pPr>
            <a:r>
              <a:t>PASS</a:t>
            </a:r>
          </a:p>
        </p:txBody>
      </p:sp>
      <p:sp>
        <p:nvSpPr>
          <p:cNvPr id="26" name="Rounded Rectangle 31">
            <a:extLst>
              <a:ext uri="{FF2B5EF4-FFF2-40B4-BE49-F238E27FC236}">
                <a16:creationId xmlns:a16="http://schemas.microsoft.com/office/drawing/2014/main" id="{491E08F7-374A-AC3E-D835-49AB7D396648}"/>
              </a:ext>
            </a:extLst>
          </p:cNvPr>
          <p:cNvSpPr/>
          <p:nvPr/>
        </p:nvSpPr>
        <p:spPr>
          <a:xfrm>
            <a:off x="10480548" y="2284884"/>
            <a:ext cx="658368" cy="265176"/>
          </a:xfrm>
          <a:prstGeom prst="roundRect">
            <a:avLst/>
          </a:prstGeom>
          <a:solidFill>
            <a:srgbClr val="E8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6915C"/>
                </a:solidFill>
                <a:latin typeface="Aptos"/>
              </a:defRPr>
            </a:pPr>
            <a:r>
              <a:t>PASS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770B07E-CDF0-E534-DEAB-2CC60DD807E2}"/>
              </a:ext>
            </a:extLst>
          </p:cNvPr>
          <p:cNvSpPr/>
          <p:nvPr/>
        </p:nvSpPr>
        <p:spPr>
          <a:xfrm>
            <a:off x="742188" y="2632355"/>
            <a:ext cx="10707624" cy="393192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D0DC4AF-FBE4-3F4B-B059-35E522EEFF2E}"/>
              </a:ext>
            </a:extLst>
          </p:cNvPr>
          <p:cNvSpPr txBox="1"/>
          <p:nvPr/>
        </p:nvSpPr>
        <p:spPr>
          <a:xfrm>
            <a:off x="815340" y="2700936"/>
            <a:ext cx="180136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B3748"/>
                </a:solidFill>
                <a:latin typeface="Aptos"/>
              </a:defRPr>
            </a:pPr>
            <a:r>
              <a:t>Invalid Email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6C74BB7-C2EC-F8D4-06EF-7B9047C5B24B}"/>
              </a:ext>
            </a:extLst>
          </p:cNvPr>
          <p:cNvSpPr txBox="1"/>
          <p:nvPr/>
        </p:nvSpPr>
        <p:spPr>
          <a:xfrm>
            <a:off x="2689859" y="2700936"/>
            <a:ext cx="216712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2B3748"/>
                </a:solidFill>
                <a:latin typeface="Aptos"/>
              </a:defRPr>
            </a:pPr>
            <a:r>
              <a:t>abc@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734AAF4-D11F-E3E6-710F-102700E306A9}"/>
              </a:ext>
            </a:extLst>
          </p:cNvPr>
          <p:cNvSpPr txBox="1"/>
          <p:nvPr/>
        </p:nvSpPr>
        <p:spPr>
          <a:xfrm>
            <a:off x="4930140" y="2700936"/>
            <a:ext cx="36301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2B3748"/>
                </a:solidFill>
                <a:latin typeface="Aptos"/>
              </a:defRPr>
            </a:pPr>
            <a:r>
              <a:t>Invalid email rejected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D2DDB0A-871A-C8E8-B3BC-64F8CC38E0A8}"/>
              </a:ext>
            </a:extLst>
          </p:cNvPr>
          <p:cNvSpPr txBox="1"/>
          <p:nvPr/>
        </p:nvSpPr>
        <p:spPr>
          <a:xfrm>
            <a:off x="8633460" y="2700936"/>
            <a:ext cx="17556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BE4B4B"/>
                </a:solidFill>
                <a:latin typeface="Aptos"/>
              </a:defRPr>
            </a:pPr>
            <a:r>
              <a:t>Negative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98E8580-6043-B003-4F90-13EA399EEEE5}"/>
              </a:ext>
            </a:extLst>
          </p:cNvPr>
          <p:cNvSpPr txBox="1"/>
          <p:nvPr/>
        </p:nvSpPr>
        <p:spPr>
          <a:xfrm>
            <a:off x="10462260" y="2700936"/>
            <a:ext cx="8412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2B3748"/>
                </a:solidFill>
                <a:latin typeface="Aptos"/>
              </a:defRPr>
            </a:pPr>
            <a:r>
              <a:t>PASS</a:t>
            </a:r>
          </a:p>
        </p:txBody>
      </p:sp>
      <p:sp>
        <p:nvSpPr>
          <p:cNvPr id="33" name="Rounded Rectangle 38">
            <a:extLst>
              <a:ext uri="{FF2B5EF4-FFF2-40B4-BE49-F238E27FC236}">
                <a16:creationId xmlns:a16="http://schemas.microsoft.com/office/drawing/2014/main" id="{F8C8FEA2-3E57-153A-CE78-3493187CFED0}"/>
              </a:ext>
            </a:extLst>
          </p:cNvPr>
          <p:cNvSpPr/>
          <p:nvPr/>
        </p:nvSpPr>
        <p:spPr>
          <a:xfrm>
            <a:off x="10480548" y="2678076"/>
            <a:ext cx="658368" cy="265176"/>
          </a:xfrm>
          <a:prstGeom prst="roundRect">
            <a:avLst/>
          </a:prstGeom>
          <a:solidFill>
            <a:srgbClr val="E8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6915C"/>
                </a:solidFill>
                <a:latin typeface="Aptos"/>
              </a:defRPr>
            </a:pPr>
            <a:r>
              <a:t>PASS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98B6CEB-08EC-B2C1-24D5-B6F3E25A808A}"/>
              </a:ext>
            </a:extLst>
          </p:cNvPr>
          <p:cNvSpPr txBox="1"/>
          <p:nvPr/>
        </p:nvSpPr>
        <p:spPr>
          <a:xfrm>
            <a:off x="815340" y="3094127"/>
            <a:ext cx="180136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B3748"/>
                </a:solidFill>
                <a:latin typeface="Aptos"/>
              </a:defRPr>
            </a:pPr>
            <a:r>
              <a:t>Duplicate Phone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908B07B-1892-4C4B-000F-937B028BBA1E}"/>
              </a:ext>
            </a:extLst>
          </p:cNvPr>
          <p:cNvSpPr txBox="1"/>
          <p:nvPr/>
        </p:nvSpPr>
        <p:spPr>
          <a:xfrm>
            <a:off x="2689859" y="3094127"/>
            <a:ext cx="216712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2B3748"/>
                </a:solidFill>
                <a:latin typeface="Aptos"/>
              </a:defRPr>
            </a:pPr>
            <a:r>
              <a:t>Existing number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3FB5AD0-032F-0F9D-AD93-30DC4C802276}"/>
              </a:ext>
            </a:extLst>
          </p:cNvPr>
          <p:cNvSpPr txBox="1"/>
          <p:nvPr/>
        </p:nvSpPr>
        <p:spPr>
          <a:xfrm>
            <a:off x="4930140" y="3094127"/>
            <a:ext cx="36301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2B3748"/>
                </a:solidFill>
                <a:latin typeface="Aptos"/>
              </a:defRPr>
            </a:pPr>
            <a:r>
              <a:t>Duplicate contact rejected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8B60112-D010-A867-97EF-39B3F7255142}"/>
              </a:ext>
            </a:extLst>
          </p:cNvPr>
          <p:cNvSpPr txBox="1"/>
          <p:nvPr/>
        </p:nvSpPr>
        <p:spPr>
          <a:xfrm>
            <a:off x="8633460" y="3094127"/>
            <a:ext cx="17556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BE4B4B"/>
                </a:solidFill>
                <a:latin typeface="Aptos"/>
              </a:defRPr>
            </a:pPr>
            <a:r>
              <a:t>Negative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1D3647B-A485-2781-5D63-EA2BEF9F6604}"/>
              </a:ext>
            </a:extLst>
          </p:cNvPr>
          <p:cNvSpPr txBox="1"/>
          <p:nvPr/>
        </p:nvSpPr>
        <p:spPr>
          <a:xfrm>
            <a:off x="10462260" y="3094127"/>
            <a:ext cx="8412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2B3748"/>
                </a:solidFill>
                <a:latin typeface="Aptos"/>
              </a:defRPr>
            </a:pPr>
            <a:r>
              <a:t>PASS</a:t>
            </a:r>
          </a:p>
        </p:txBody>
      </p:sp>
      <p:sp>
        <p:nvSpPr>
          <p:cNvPr id="39" name="Rounded Rectangle 44">
            <a:extLst>
              <a:ext uri="{FF2B5EF4-FFF2-40B4-BE49-F238E27FC236}">
                <a16:creationId xmlns:a16="http://schemas.microsoft.com/office/drawing/2014/main" id="{CF534938-F732-C415-9084-B8F651DAA8DB}"/>
              </a:ext>
            </a:extLst>
          </p:cNvPr>
          <p:cNvSpPr/>
          <p:nvPr/>
        </p:nvSpPr>
        <p:spPr>
          <a:xfrm>
            <a:off x="10480548" y="3071267"/>
            <a:ext cx="658368" cy="265176"/>
          </a:xfrm>
          <a:prstGeom prst="roundRect">
            <a:avLst/>
          </a:prstGeom>
          <a:solidFill>
            <a:srgbClr val="E8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6915C"/>
                </a:solidFill>
                <a:latin typeface="Aptos"/>
              </a:defRPr>
            </a:pPr>
            <a:r>
              <a:t>PASS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22BCF61-C83A-D91B-AFED-FDDE1CC969A4}"/>
              </a:ext>
            </a:extLst>
          </p:cNvPr>
          <p:cNvSpPr/>
          <p:nvPr/>
        </p:nvSpPr>
        <p:spPr>
          <a:xfrm>
            <a:off x="742188" y="3418740"/>
            <a:ext cx="10707624" cy="393192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349CE57-529B-A217-6664-BD4AE5E3BFED}"/>
              </a:ext>
            </a:extLst>
          </p:cNvPr>
          <p:cNvSpPr txBox="1"/>
          <p:nvPr/>
        </p:nvSpPr>
        <p:spPr>
          <a:xfrm>
            <a:off x="815340" y="3487320"/>
            <a:ext cx="180136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B3748"/>
                </a:solidFill>
                <a:latin typeface="Aptos"/>
              </a:defRPr>
            </a:pPr>
            <a:r>
              <a:t>Search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4612734-EC6A-AE86-0679-42AF6A5A6845}"/>
              </a:ext>
            </a:extLst>
          </p:cNvPr>
          <p:cNvSpPr txBox="1"/>
          <p:nvPr/>
        </p:nvSpPr>
        <p:spPr>
          <a:xfrm>
            <a:off x="2689859" y="3487320"/>
            <a:ext cx="216712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2B3748"/>
                </a:solidFill>
                <a:latin typeface="Aptos"/>
              </a:defRPr>
            </a:pPr>
            <a:r>
              <a:t>Existing name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F68867E-01D8-D527-AA0D-D463226DEF48}"/>
              </a:ext>
            </a:extLst>
          </p:cNvPr>
          <p:cNvSpPr txBox="1"/>
          <p:nvPr/>
        </p:nvSpPr>
        <p:spPr>
          <a:xfrm>
            <a:off x="4930140" y="3487320"/>
            <a:ext cx="36301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2B3748"/>
                </a:solidFill>
                <a:latin typeface="Aptos"/>
              </a:defRPr>
            </a:pPr>
            <a:r>
              <a:t>Matching contact displayed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1A998E1-0C34-5F5F-66E2-DE637F529FB1}"/>
              </a:ext>
            </a:extLst>
          </p:cNvPr>
          <p:cNvSpPr txBox="1"/>
          <p:nvPr/>
        </p:nvSpPr>
        <p:spPr>
          <a:xfrm>
            <a:off x="8633460" y="3487320"/>
            <a:ext cx="17556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2B3748"/>
                </a:solidFill>
                <a:latin typeface="Aptos"/>
              </a:defRPr>
            </a:pPr>
            <a:r>
              <a:t>Functional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0A6E84E-271C-4D47-2CA8-339E7EFA33D5}"/>
              </a:ext>
            </a:extLst>
          </p:cNvPr>
          <p:cNvSpPr txBox="1"/>
          <p:nvPr/>
        </p:nvSpPr>
        <p:spPr>
          <a:xfrm>
            <a:off x="10462260" y="3487320"/>
            <a:ext cx="8412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2B3748"/>
                </a:solidFill>
                <a:latin typeface="Aptos"/>
              </a:defRPr>
            </a:pPr>
            <a:r>
              <a:t>PASS</a:t>
            </a:r>
          </a:p>
        </p:txBody>
      </p:sp>
      <p:sp>
        <p:nvSpPr>
          <p:cNvPr id="46" name="Rounded Rectangle 51">
            <a:extLst>
              <a:ext uri="{FF2B5EF4-FFF2-40B4-BE49-F238E27FC236}">
                <a16:creationId xmlns:a16="http://schemas.microsoft.com/office/drawing/2014/main" id="{26317A29-5F27-107F-C93B-6C888119E02F}"/>
              </a:ext>
            </a:extLst>
          </p:cNvPr>
          <p:cNvSpPr/>
          <p:nvPr/>
        </p:nvSpPr>
        <p:spPr>
          <a:xfrm>
            <a:off x="10480548" y="3464460"/>
            <a:ext cx="658368" cy="265176"/>
          </a:xfrm>
          <a:prstGeom prst="roundRect">
            <a:avLst/>
          </a:prstGeom>
          <a:solidFill>
            <a:srgbClr val="E8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6915C"/>
                </a:solidFill>
                <a:latin typeface="Aptos"/>
              </a:defRPr>
            </a:pPr>
            <a:r>
              <a:t>PASS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4F695E5-8C84-8F41-99E0-F8335FCC28F0}"/>
              </a:ext>
            </a:extLst>
          </p:cNvPr>
          <p:cNvSpPr txBox="1"/>
          <p:nvPr/>
        </p:nvSpPr>
        <p:spPr>
          <a:xfrm>
            <a:off x="815340" y="3880512"/>
            <a:ext cx="180136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B3748"/>
                </a:solidFill>
                <a:latin typeface="Aptos"/>
              </a:defRPr>
            </a:pPr>
            <a:r>
              <a:t>Update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56012BC-BB64-FE10-07FB-90C0C47ED7F8}"/>
              </a:ext>
            </a:extLst>
          </p:cNvPr>
          <p:cNvSpPr txBox="1"/>
          <p:nvPr/>
        </p:nvSpPr>
        <p:spPr>
          <a:xfrm>
            <a:off x="2689859" y="3880512"/>
            <a:ext cx="216712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2B3748"/>
                </a:solidFill>
                <a:latin typeface="Aptos"/>
              </a:defRPr>
            </a:pPr>
            <a:r>
              <a:t>Valid Contact ID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C804B08-870D-5C6B-581C-4AA708A4FE8F}"/>
              </a:ext>
            </a:extLst>
          </p:cNvPr>
          <p:cNvSpPr txBox="1"/>
          <p:nvPr/>
        </p:nvSpPr>
        <p:spPr>
          <a:xfrm>
            <a:off x="4930140" y="3880512"/>
            <a:ext cx="36301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2B3748"/>
                </a:solidFill>
                <a:latin typeface="Aptos"/>
              </a:defRPr>
            </a:pPr>
            <a:r>
              <a:t>Contact details updated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C21669E-BD92-7040-B16A-DFE16B148459}"/>
              </a:ext>
            </a:extLst>
          </p:cNvPr>
          <p:cNvSpPr txBox="1"/>
          <p:nvPr/>
        </p:nvSpPr>
        <p:spPr>
          <a:xfrm>
            <a:off x="8633460" y="3880512"/>
            <a:ext cx="17556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2B3748"/>
                </a:solidFill>
                <a:latin typeface="Aptos"/>
              </a:defRPr>
            </a:pPr>
            <a:r>
              <a:t>Functional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0136118-14EB-F0E8-96CC-3D6D961A32DD}"/>
              </a:ext>
            </a:extLst>
          </p:cNvPr>
          <p:cNvSpPr txBox="1"/>
          <p:nvPr/>
        </p:nvSpPr>
        <p:spPr>
          <a:xfrm>
            <a:off x="10462260" y="3880512"/>
            <a:ext cx="8412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2B3748"/>
                </a:solidFill>
                <a:latin typeface="Aptos"/>
              </a:defRPr>
            </a:pPr>
            <a:r>
              <a:t>PASS</a:t>
            </a:r>
          </a:p>
        </p:txBody>
      </p:sp>
      <p:sp>
        <p:nvSpPr>
          <p:cNvPr id="52" name="Rounded Rectangle 57">
            <a:extLst>
              <a:ext uri="{FF2B5EF4-FFF2-40B4-BE49-F238E27FC236}">
                <a16:creationId xmlns:a16="http://schemas.microsoft.com/office/drawing/2014/main" id="{DB6DE782-8A04-A50E-0364-895484D5791F}"/>
              </a:ext>
            </a:extLst>
          </p:cNvPr>
          <p:cNvSpPr/>
          <p:nvPr/>
        </p:nvSpPr>
        <p:spPr>
          <a:xfrm>
            <a:off x="10480548" y="3857652"/>
            <a:ext cx="658368" cy="265176"/>
          </a:xfrm>
          <a:prstGeom prst="roundRect">
            <a:avLst/>
          </a:prstGeom>
          <a:solidFill>
            <a:srgbClr val="E8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6915C"/>
                </a:solidFill>
                <a:latin typeface="Aptos"/>
              </a:defRPr>
            </a:pPr>
            <a:r>
              <a:t>PASS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59A42BD-38D7-3350-93C0-DBBD92BC8C02}"/>
              </a:ext>
            </a:extLst>
          </p:cNvPr>
          <p:cNvSpPr/>
          <p:nvPr/>
        </p:nvSpPr>
        <p:spPr>
          <a:xfrm>
            <a:off x="742188" y="4205124"/>
            <a:ext cx="10707624" cy="393192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0DADBD4-F01D-283C-783E-AA2494D2D518}"/>
              </a:ext>
            </a:extLst>
          </p:cNvPr>
          <p:cNvSpPr txBox="1"/>
          <p:nvPr/>
        </p:nvSpPr>
        <p:spPr>
          <a:xfrm>
            <a:off x="815340" y="4273704"/>
            <a:ext cx="180136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B3748"/>
                </a:solidFill>
                <a:latin typeface="Aptos"/>
              </a:defRPr>
            </a:pPr>
            <a:r>
              <a:t>Delete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E3A0389-0FBD-FEBE-1754-527203975634}"/>
              </a:ext>
            </a:extLst>
          </p:cNvPr>
          <p:cNvSpPr txBox="1"/>
          <p:nvPr/>
        </p:nvSpPr>
        <p:spPr>
          <a:xfrm>
            <a:off x="2689859" y="4273704"/>
            <a:ext cx="216712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2B3748"/>
                </a:solidFill>
                <a:latin typeface="Aptos"/>
              </a:defRPr>
            </a:pPr>
            <a:r>
              <a:t>Valid ID + confirmation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21B1337-45E3-55A6-B0B4-35A4A2B0EB49}"/>
              </a:ext>
            </a:extLst>
          </p:cNvPr>
          <p:cNvSpPr txBox="1"/>
          <p:nvPr/>
        </p:nvSpPr>
        <p:spPr>
          <a:xfrm>
            <a:off x="4930140" y="4273704"/>
            <a:ext cx="36301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2B3748"/>
                </a:solidFill>
                <a:latin typeface="Aptos"/>
              </a:defRPr>
            </a:pPr>
            <a:r>
              <a:t>Contact removed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BA55EAF-68FE-3F8F-A556-D1A635D4AC00}"/>
              </a:ext>
            </a:extLst>
          </p:cNvPr>
          <p:cNvSpPr txBox="1"/>
          <p:nvPr/>
        </p:nvSpPr>
        <p:spPr>
          <a:xfrm>
            <a:off x="8633460" y="4273704"/>
            <a:ext cx="17556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2B3748"/>
                </a:solidFill>
                <a:latin typeface="Aptos"/>
              </a:defRPr>
            </a:pPr>
            <a:r>
              <a:t>Functional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066881D-153F-0372-A24D-AAE5D322B024}"/>
              </a:ext>
            </a:extLst>
          </p:cNvPr>
          <p:cNvSpPr txBox="1"/>
          <p:nvPr/>
        </p:nvSpPr>
        <p:spPr>
          <a:xfrm>
            <a:off x="10462260" y="4273704"/>
            <a:ext cx="8412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2B3748"/>
                </a:solidFill>
                <a:latin typeface="Aptos"/>
              </a:defRPr>
            </a:pPr>
            <a:r>
              <a:t>PASS</a:t>
            </a:r>
          </a:p>
        </p:txBody>
      </p:sp>
      <p:sp>
        <p:nvSpPr>
          <p:cNvPr id="59" name="Rounded Rectangle 64">
            <a:extLst>
              <a:ext uri="{FF2B5EF4-FFF2-40B4-BE49-F238E27FC236}">
                <a16:creationId xmlns:a16="http://schemas.microsoft.com/office/drawing/2014/main" id="{B2CC4EE5-6CD0-8933-3FC3-A2BC25DB1B0C}"/>
              </a:ext>
            </a:extLst>
          </p:cNvPr>
          <p:cNvSpPr/>
          <p:nvPr/>
        </p:nvSpPr>
        <p:spPr>
          <a:xfrm>
            <a:off x="10480548" y="4250844"/>
            <a:ext cx="658368" cy="265176"/>
          </a:xfrm>
          <a:prstGeom prst="roundRect">
            <a:avLst/>
          </a:prstGeom>
          <a:solidFill>
            <a:srgbClr val="E8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6915C"/>
                </a:solidFill>
                <a:latin typeface="Aptos"/>
              </a:defRPr>
            </a:pPr>
            <a:r>
              <a:t>PASS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F1A0255-2616-115A-61C4-C8518B003B01}"/>
              </a:ext>
            </a:extLst>
          </p:cNvPr>
          <p:cNvSpPr txBox="1"/>
          <p:nvPr/>
        </p:nvSpPr>
        <p:spPr>
          <a:xfrm>
            <a:off x="815340" y="4666896"/>
            <a:ext cx="180136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B3748"/>
                </a:solidFill>
                <a:latin typeface="Aptos"/>
              </a:defRPr>
            </a:pPr>
            <a:r>
              <a:t>Category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2F1B874-2835-13EB-8FBA-C345D235C1A6}"/>
              </a:ext>
            </a:extLst>
          </p:cNvPr>
          <p:cNvSpPr txBox="1"/>
          <p:nvPr/>
        </p:nvSpPr>
        <p:spPr>
          <a:xfrm>
            <a:off x="2689859" y="4666896"/>
            <a:ext cx="216712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2B3748"/>
                </a:solidFill>
                <a:latin typeface="Aptos"/>
              </a:defRPr>
            </a:pPr>
            <a:r>
              <a:t>College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2874B59-D50D-253B-8186-676E2A26156F}"/>
              </a:ext>
            </a:extLst>
          </p:cNvPr>
          <p:cNvSpPr txBox="1"/>
          <p:nvPr/>
        </p:nvSpPr>
        <p:spPr>
          <a:xfrm>
            <a:off x="4930140" y="4666896"/>
            <a:ext cx="36301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2B3748"/>
                </a:solidFill>
                <a:latin typeface="Aptos"/>
              </a:defRPr>
            </a:pPr>
            <a:r>
              <a:t>Matching contacts displayed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6968FB9-3F17-2D65-7151-F2646722F942}"/>
              </a:ext>
            </a:extLst>
          </p:cNvPr>
          <p:cNvSpPr txBox="1"/>
          <p:nvPr/>
        </p:nvSpPr>
        <p:spPr>
          <a:xfrm>
            <a:off x="8633460" y="4666896"/>
            <a:ext cx="17556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2B3748"/>
                </a:solidFill>
                <a:latin typeface="Aptos"/>
              </a:defRPr>
            </a:pPr>
            <a:r>
              <a:t>Functional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59DBA82-89FF-D2B1-973F-49A09C1693F5}"/>
              </a:ext>
            </a:extLst>
          </p:cNvPr>
          <p:cNvSpPr txBox="1"/>
          <p:nvPr/>
        </p:nvSpPr>
        <p:spPr>
          <a:xfrm>
            <a:off x="10462260" y="4666896"/>
            <a:ext cx="8412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2B3748"/>
                </a:solidFill>
                <a:latin typeface="Aptos"/>
              </a:defRPr>
            </a:pPr>
            <a:r>
              <a:t>PASS</a:t>
            </a:r>
          </a:p>
        </p:txBody>
      </p:sp>
      <p:sp>
        <p:nvSpPr>
          <p:cNvPr id="65" name="Rounded Rectangle 70">
            <a:extLst>
              <a:ext uri="{FF2B5EF4-FFF2-40B4-BE49-F238E27FC236}">
                <a16:creationId xmlns:a16="http://schemas.microsoft.com/office/drawing/2014/main" id="{3AA02579-3184-4660-FAC7-7E1BEB2DD860}"/>
              </a:ext>
            </a:extLst>
          </p:cNvPr>
          <p:cNvSpPr/>
          <p:nvPr/>
        </p:nvSpPr>
        <p:spPr>
          <a:xfrm>
            <a:off x="10480548" y="4644036"/>
            <a:ext cx="658368" cy="265176"/>
          </a:xfrm>
          <a:prstGeom prst="roundRect">
            <a:avLst/>
          </a:prstGeom>
          <a:solidFill>
            <a:srgbClr val="E8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6915C"/>
                </a:solidFill>
                <a:latin typeface="Aptos"/>
              </a:defRPr>
            </a:pPr>
            <a:r>
              <a:t>PASS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B0535B4-726B-A527-86A7-3FE39044B9ED}"/>
              </a:ext>
            </a:extLst>
          </p:cNvPr>
          <p:cNvSpPr/>
          <p:nvPr/>
        </p:nvSpPr>
        <p:spPr>
          <a:xfrm>
            <a:off x="742188" y="4991508"/>
            <a:ext cx="10707624" cy="393192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B38C91D-4D60-EA98-6590-E370660A7CD0}"/>
              </a:ext>
            </a:extLst>
          </p:cNvPr>
          <p:cNvSpPr txBox="1"/>
          <p:nvPr/>
        </p:nvSpPr>
        <p:spPr>
          <a:xfrm>
            <a:off x="815340" y="5060088"/>
            <a:ext cx="180136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B3748"/>
                </a:solidFill>
                <a:latin typeface="Aptos"/>
              </a:defRPr>
            </a:pPr>
            <a:r>
              <a:t>Favorite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D6D56FB-17CC-22A2-D3B1-212056F55DEC}"/>
              </a:ext>
            </a:extLst>
          </p:cNvPr>
          <p:cNvSpPr txBox="1"/>
          <p:nvPr/>
        </p:nvSpPr>
        <p:spPr>
          <a:xfrm>
            <a:off x="2689859" y="5060088"/>
            <a:ext cx="216712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2B3748"/>
                </a:solidFill>
                <a:latin typeface="Aptos"/>
              </a:defRPr>
            </a:pPr>
            <a:r>
              <a:t>Contact ID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9E161E8-5867-536D-A8B4-9908627B6B1B}"/>
              </a:ext>
            </a:extLst>
          </p:cNvPr>
          <p:cNvSpPr txBox="1"/>
          <p:nvPr/>
        </p:nvSpPr>
        <p:spPr>
          <a:xfrm>
            <a:off x="4930140" y="5060088"/>
            <a:ext cx="36301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2B3748"/>
                </a:solidFill>
                <a:latin typeface="Aptos"/>
              </a:defRPr>
            </a:pPr>
            <a:r>
              <a:t>Favorite status updated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D0E520F-D08D-3276-95C6-7482728451E2}"/>
              </a:ext>
            </a:extLst>
          </p:cNvPr>
          <p:cNvSpPr txBox="1"/>
          <p:nvPr/>
        </p:nvSpPr>
        <p:spPr>
          <a:xfrm>
            <a:off x="8633460" y="5060088"/>
            <a:ext cx="17556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2B3748"/>
                </a:solidFill>
                <a:latin typeface="Aptos"/>
              </a:defRPr>
            </a:pPr>
            <a:r>
              <a:t>Functional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73618FB-6673-9D3E-CDED-0CFFACA8E152}"/>
              </a:ext>
            </a:extLst>
          </p:cNvPr>
          <p:cNvSpPr txBox="1"/>
          <p:nvPr/>
        </p:nvSpPr>
        <p:spPr>
          <a:xfrm>
            <a:off x="10462260" y="5060088"/>
            <a:ext cx="8412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2B3748"/>
                </a:solidFill>
                <a:latin typeface="Aptos"/>
              </a:defRPr>
            </a:pPr>
            <a:r>
              <a:t>PASS</a:t>
            </a:r>
          </a:p>
        </p:txBody>
      </p:sp>
      <p:sp>
        <p:nvSpPr>
          <p:cNvPr id="72" name="Rounded Rectangle 77">
            <a:extLst>
              <a:ext uri="{FF2B5EF4-FFF2-40B4-BE49-F238E27FC236}">
                <a16:creationId xmlns:a16="http://schemas.microsoft.com/office/drawing/2014/main" id="{8ED33386-F73F-C4EB-0C30-37A9255CBE5C}"/>
              </a:ext>
            </a:extLst>
          </p:cNvPr>
          <p:cNvSpPr/>
          <p:nvPr/>
        </p:nvSpPr>
        <p:spPr>
          <a:xfrm>
            <a:off x="10480548" y="5037228"/>
            <a:ext cx="658368" cy="265176"/>
          </a:xfrm>
          <a:prstGeom prst="roundRect">
            <a:avLst/>
          </a:prstGeom>
          <a:solidFill>
            <a:srgbClr val="E8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6915C"/>
                </a:solidFill>
                <a:latin typeface="Aptos"/>
              </a:defRPr>
            </a:pPr>
            <a:r>
              <a:t>PASS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D955B26-9707-54B4-892A-3BD3BB841E01}"/>
              </a:ext>
            </a:extLst>
          </p:cNvPr>
          <p:cNvSpPr txBox="1"/>
          <p:nvPr/>
        </p:nvSpPr>
        <p:spPr>
          <a:xfrm>
            <a:off x="815340" y="5453280"/>
            <a:ext cx="180136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B3748"/>
                </a:solidFill>
                <a:latin typeface="Aptos"/>
              </a:defRPr>
            </a:pPr>
            <a:r>
              <a:t>Persistence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2CEE306-F3F4-35C8-6146-C2CB1FF5565C}"/>
              </a:ext>
            </a:extLst>
          </p:cNvPr>
          <p:cNvSpPr txBox="1"/>
          <p:nvPr/>
        </p:nvSpPr>
        <p:spPr>
          <a:xfrm>
            <a:off x="2689859" y="5453280"/>
            <a:ext cx="216712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2B3748"/>
                </a:solidFill>
                <a:latin typeface="Aptos"/>
              </a:defRPr>
            </a:pPr>
            <a:r>
              <a:t>Restart program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014531F-0E48-A25F-FF33-A4EC913A4EB9}"/>
              </a:ext>
            </a:extLst>
          </p:cNvPr>
          <p:cNvSpPr txBox="1"/>
          <p:nvPr/>
        </p:nvSpPr>
        <p:spPr>
          <a:xfrm>
            <a:off x="4930140" y="5453280"/>
            <a:ext cx="36301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2B3748"/>
                </a:solidFill>
                <a:latin typeface="Aptos"/>
              </a:defRPr>
            </a:pPr>
            <a:r>
              <a:t>Stored data retained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3E4CD8E-AE4B-8ACE-5745-069323749821}"/>
              </a:ext>
            </a:extLst>
          </p:cNvPr>
          <p:cNvSpPr txBox="1"/>
          <p:nvPr/>
        </p:nvSpPr>
        <p:spPr>
          <a:xfrm>
            <a:off x="8633460" y="5453280"/>
            <a:ext cx="17556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2B3748"/>
                </a:solidFill>
                <a:latin typeface="Aptos"/>
              </a:defRPr>
            </a:pPr>
            <a:r>
              <a:t>Functional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F76486E-D35C-D700-74FA-10411116E40C}"/>
              </a:ext>
            </a:extLst>
          </p:cNvPr>
          <p:cNvSpPr txBox="1"/>
          <p:nvPr/>
        </p:nvSpPr>
        <p:spPr>
          <a:xfrm>
            <a:off x="10462260" y="5453280"/>
            <a:ext cx="8412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2B3748"/>
                </a:solidFill>
                <a:latin typeface="Aptos"/>
              </a:defRPr>
            </a:pPr>
            <a:r>
              <a:t>PASS</a:t>
            </a:r>
          </a:p>
        </p:txBody>
      </p:sp>
      <p:sp>
        <p:nvSpPr>
          <p:cNvPr id="78" name="Rounded Rectangle 83">
            <a:extLst>
              <a:ext uri="{FF2B5EF4-FFF2-40B4-BE49-F238E27FC236}">
                <a16:creationId xmlns:a16="http://schemas.microsoft.com/office/drawing/2014/main" id="{EAB4C20A-F2EA-EE1F-597D-B3A04B957A66}"/>
              </a:ext>
            </a:extLst>
          </p:cNvPr>
          <p:cNvSpPr/>
          <p:nvPr/>
        </p:nvSpPr>
        <p:spPr>
          <a:xfrm>
            <a:off x="10480548" y="5430419"/>
            <a:ext cx="658368" cy="265176"/>
          </a:xfrm>
          <a:prstGeom prst="roundRect">
            <a:avLst/>
          </a:prstGeom>
          <a:solidFill>
            <a:srgbClr val="E8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6915C"/>
                </a:solidFill>
                <a:latin typeface="Aptos"/>
              </a:defRPr>
            </a:pPr>
            <a:r>
              <a:t>PASS</a:t>
            </a:r>
          </a:p>
        </p:txBody>
      </p:sp>
      <p:sp>
        <p:nvSpPr>
          <p:cNvPr id="79" name="Rounded Rectangle 84">
            <a:extLst>
              <a:ext uri="{FF2B5EF4-FFF2-40B4-BE49-F238E27FC236}">
                <a16:creationId xmlns:a16="http://schemas.microsoft.com/office/drawing/2014/main" id="{785B5BF7-8628-6439-AA54-65F6FC700802}"/>
              </a:ext>
            </a:extLst>
          </p:cNvPr>
          <p:cNvSpPr/>
          <p:nvPr/>
        </p:nvSpPr>
        <p:spPr>
          <a:xfrm>
            <a:off x="742188" y="5949442"/>
            <a:ext cx="10881360" cy="310896"/>
          </a:xfrm>
          <a:prstGeom prst="roundRect">
            <a:avLst/>
          </a:prstGeom>
          <a:solidFill>
            <a:srgbClr val="EFF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82A48"/>
                </a:solidFill>
                <a:latin typeface="Aptos"/>
              </a:defRPr>
            </a:pPr>
            <a:r>
              <a:t>Negative tests confirm that invalid and duplicate inputs are handled safely without corrupting contact data.</a:t>
            </a:r>
          </a:p>
        </p:txBody>
      </p:sp>
    </p:spTree>
    <p:extLst>
      <p:ext uri="{BB962C8B-B14F-4D97-AF65-F5344CB8AC3E}">
        <p14:creationId xmlns:p14="http://schemas.microsoft.com/office/powerpoint/2010/main" val="2237424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23458A-CBEB-D2EE-BA58-437AD2EC177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604A31-0A52-BA59-7FE5-75FA0120642A}"/>
              </a:ext>
            </a:extLst>
          </p:cNvPr>
          <p:cNvSpPr txBox="1"/>
          <p:nvPr/>
        </p:nvSpPr>
        <p:spPr>
          <a:xfrm>
            <a:off x="3359696" y="260648"/>
            <a:ext cx="6213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11F36"/>
                </a:solidFill>
                <a:latin typeface="Aptos"/>
              </a:defRPr>
            </a:pPr>
            <a:r>
              <a:rPr lang="en-IN" sz="3200" dirty="0">
                <a:solidFill>
                  <a:schemeClr val="accent1">
                    <a:lumMod val="50000"/>
                  </a:schemeClr>
                </a:solidFill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Final Output &amp; Demonstration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D4FA2D2-01C6-7F72-E32B-809C29F529BC}"/>
              </a:ext>
            </a:extLst>
          </p:cNvPr>
          <p:cNvCxnSpPr>
            <a:cxnSpLocks/>
          </p:cNvCxnSpPr>
          <p:nvPr/>
        </p:nvCxnSpPr>
        <p:spPr>
          <a:xfrm>
            <a:off x="2927648" y="845423"/>
            <a:ext cx="7184557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29EE363-E01A-4A20-804F-BFE7B47378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200"/>
          <a:stretch>
            <a:fillRect/>
          </a:stretch>
        </p:blipFill>
        <p:spPr>
          <a:xfrm>
            <a:off x="191344" y="1916832"/>
            <a:ext cx="4176464" cy="344453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1C9324B-D6DF-6AEF-3314-01323D33CAE1}"/>
              </a:ext>
            </a:extLst>
          </p:cNvPr>
          <p:cNvSpPr txBox="1"/>
          <p:nvPr/>
        </p:nvSpPr>
        <p:spPr>
          <a:xfrm>
            <a:off x="191344" y="1514122"/>
            <a:ext cx="13527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1D2DC"/>
                </a:solidFill>
                <a:latin typeface="Aptos"/>
              </a:defRPr>
            </a:pP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MAIN MENU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A9357EB-C7CD-0BD0-C166-0E0C6BAF71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7442" y="1908581"/>
            <a:ext cx="3162574" cy="326164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BF145B5-97E4-6D36-7BF5-851361885B14}"/>
              </a:ext>
            </a:extLst>
          </p:cNvPr>
          <p:cNvSpPr txBox="1"/>
          <p:nvPr/>
        </p:nvSpPr>
        <p:spPr>
          <a:xfrm>
            <a:off x="8893663" y="1430198"/>
            <a:ext cx="62139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1D2DC"/>
                </a:solidFill>
                <a:latin typeface="Aptos"/>
              </a:defRPr>
            </a:pP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VALIDATION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ECA0490-F457-0252-7B18-1F4715D990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9816" y="1916832"/>
            <a:ext cx="4368367" cy="445134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F03A785-7180-C65F-09C4-0DDD72917DF1}"/>
              </a:ext>
            </a:extLst>
          </p:cNvPr>
          <p:cNvSpPr txBox="1"/>
          <p:nvPr/>
        </p:nvSpPr>
        <p:spPr>
          <a:xfrm>
            <a:off x="4439816" y="1500113"/>
            <a:ext cx="62139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1D2DC"/>
                </a:solidFill>
                <a:latin typeface="Aptos"/>
              </a:defRPr>
            </a:pP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ADDING CONTACT</a:t>
            </a:r>
          </a:p>
        </p:txBody>
      </p:sp>
    </p:spTree>
    <p:extLst>
      <p:ext uri="{BB962C8B-B14F-4D97-AF65-F5344CB8AC3E}">
        <p14:creationId xmlns:p14="http://schemas.microsoft.com/office/powerpoint/2010/main" val="32168949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6CBEC4-EA48-798C-5927-CDF0E3F50F6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9C5157-1CDB-97A7-A265-686AA62690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8341" y="1728163"/>
            <a:ext cx="3101609" cy="39627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188504B-46AB-7E2B-6403-7D2D51E16E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4778" y="1621432"/>
            <a:ext cx="3455372" cy="499926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16B28B9-B8AA-4507-C43C-C30F80B468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210" y="1728163"/>
            <a:ext cx="2949196" cy="441998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9C60D97-D18E-929F-084E-C537B96793B0}"/>
              </a:ext>
            </a:extLst>
          </p:cNvPr>
          <p:cNvSpPr txBox="1"/>
          <p:nvPr/>
        </p:nvSpPr>
        <p:spPr>
          <a:xfrm>
            <a:off x="312754" y="1259021"/>
            <a:ext cx="62139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1D2DC"/>
                </a:solidFill>
                <a:latin typeface="Aptos"/>
              </a:defRPr>
            </a:pP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SEARCH CONTACT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7CFB4E1-AEA4-C63C-BE4E-D0AE4568559C}"/>
              </a:ext>
            </a:extLst>
          </p:cNvPr>
          <p:cNvSpPr txBox="1"/>
          <p:nvPr/>
        </p:nvSpPr>
        <p:spPr>
          <a:xfrm>
            <a:off x="4295800" y="1217584"/>
            <a:ext cx="20882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1D2DC"/>
                </a:solidFill>
                <a:latin typeface="Aptos"/>
              </a:defRPr>
            </a:pP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UPDATE CONTACT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235778-8FE5-3417-4303-21140B11AEF4}"/>
              </a:ext>
            </a:extLst>
          </p:cNvPr>
          <p:cNvSpPr txBox="1"/>
          <p:nvPr/>
        </p:nvSpPr>
        <p:spPr>
          <a:xfrm>
            <a:off x="8421554" y="1179028"/>
            <a:ext cx="20882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1D2DC"/>
                </a:solidFill>
                <a:latin typeface="Aptos"/>
              </a:defRPr>
            </a:pP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DELETE CONTACT</a:t>
            </a:r>
          </a:p>
        </p:txBody>
      </p:sp>
    </p:spTree>
    <p:extLst>
      <p:ext uri="{BB962C8B-B14F-4D97-AF65-F5344CB8AC3E}">
        <p14:creationId xmlns:p14="http://schemas.microsoft.com/office/powerpoint/2010/main" val="32335494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7C9E0B-75F5-59C0-485A-9455E1A706E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44B2A8-0B95-DD00-8E91-AC0F5FEFD10D}"/>
              </a:ext>
            </a:extLst>
          </p:cNvPr>
          <p:cNvSpPr txBox="1"/>
          <p:nvPr/>
        </p:nvSpPr>
        <p:spPr>
          <a:xfrm>
            <a:off x="3575719" y="188640"/>
            <a:ext cx="65364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chemeClr val="accent1">
                    <a:lumMod val="50000"/>
                  </a:schemeClr>
                </a:solidFill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Final Implementation Status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85256E5-1167-59A3-AF9A-9A76F6F68D54}"/>
              </a:ext>
            </a:extLst>
          </p:cNvPr>
          <p:cNvCxnSpPr>
            <a:cxnSpLocks/>
          </p:cNvCxnSpPr>
          <p:nvPr/>
        </p:nvCxnSpPr>
        <p:spPr>
          <a:xfrm>
            <a:off x="2927648" y="773415"/>
            <a:ext cx="7184557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90B6CCA-5A00-E5B3-5C29-9A115932E3E0}"/>
              </a:ext>
            </a:extLst>
          </p:cNvPr>
          <p:cNvSpPr txBox="1"/>
          <p:nvPr/>
        </p:nvSpPr>
        <p:spPr>
          <a:xfrm>
            <a:off x="623392" y="1001038"/>
            <a:ext cx="8568952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accent1">
                    <a:lumMod val="50000"/>
                  </a:schemeClr>
                </a:solidFill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Core Functionality </a:t>
            </a:r>
            <a:br>
              <a:rPr lang="en-IN" sz="1600" dirty="0">
                <a:solidFill>
                  <a:schemeClr val="accent1">
                    <a:lumMod val="75000"/>
                  </a:schemeClr>
                </a:solidFill>
                <a:latin typeface="Artifakt Element Book" panose="020B0503050000020004" pitchFamily="34" charset="0"/>
                <a:ea typeface="Artifakt Element Book" panose="020B0503050000020004" pitchFamily="34" charset="0"/>
              </a:rPr>
            </a:br>
            <a:r>
              <a:rPr lang="en-IN" sz="1600" dirty="0">
                <a:solidFill>
                  <a:schemeClr val="accent1">
                    <a:lumMod val="75000"/>
                  </a:schemeClr>
                </a:solidFill>
                <a:latin typeface="Artifakt Element Book" panose="020B0503050000020004" pitchFamily="34" charset="0"/>
                <a:ea typeface="Artifakt Element Book" panose="020B0503050000020004" pitchFamily="34" charset="0"/>
              </a:rPr>
              <a:t>Add, view, search, update and delete contact records.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accent1">
                    <a:lumMod val="50000"/>
                  </a:schemeClr>
                </a:solidFill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Contact Organization </a:t>
            </a:r>
            <a:br>
              <a:rPr lang="en-IN" sz="1600" dirty="0">
                <a:solidFill>
                  <a:schemeClr val="accent1">
                    <a:lumMod val="75000"/>
                  </a:schemeClr>
                </a:solidFill>
                <a:latin typeface="Artifakt Element Book" panose="020B0503050000020004" pitchFamily="34" charset="0"/>
                <a:ea typeface="Artifakt Element Book" panose="020B0503050000020004" pitchFamily="34" charset="0"/>
              </a:rPr>
            </a:br>
            <a:r>
              <a:rPr lang="en-IN" sz="1600" dirty="0">
                <a:solidFill>
                  <a:schemeClr val="accent1">
                    <a:lumMod val="75000"/>
                  </a:schemeClr>
                </a:solidFill>
                <a:latin typeface="Artifakt Element Book" panose="020B0503050000020004" pitchFamily="34" charset="0"/>
                <a:ea typeface="Artifakt Element Book" panose="020B0503050000020004" pitchFamily="34" charset="0"/>
              </a:rPr>
              <a:t>Contacts can be sorted, categorized and marked as favourites.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accent1">
                    <a:lumMod val="50000"/>
                  </a:schemeClr>
                </a:solidFill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Validation &amp; Data Accuracy</a:t>
            </a:r>
            <a:br>
              <a:rPr lang="en-IN" sz="1600" dirty="0">
                <a:solidFill>
                  <a:schemeClr val="accent1">
                    <a:lumMod val="75000"/>
                  </a:schemeClr>
                </a:solidFill>
                <a:latin typeface="Artifakt Element Book" panose="020B0503050000020004" pitchFamily="34" charset="0"/>
                <a:ea typeface="Artifakt Element Book" panose="020B0503050000020004" pitchFamily="34" charset="0"/>
              </a:rPr>
            </a:br>
            <a:r>
              <a:rPr lang="en-IN" sz="1600" dirty="0">
                <a:solidFill>
                  <a:schemeClr val="accent1">
                    <a:lumMod val="75000"/>
                  </a:schemeClr>
                </a:solidFill>
                <a:latin typeface="Artifakt Element Book" panose="020B0503050000020004" pitchFamily="34" charset="0"/>
                <a:ea typeface="Artifakt Element Book" panose="020B0503050000020004" pitchFamily="34" charset="0"/>
              </a:rPr>
              <a:t>Input validation and duplicate detection prevent incorrect records.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accent1">
                    <a:lumMod val="50000"/>
                  </a:schemeClr>
                </a:solidFill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Persistent Data Management</a:t>
            </a:r>
            <a:br>
              <a:rPr lang="en-IN" sz="1600" dirty="0">
                <a:solidFill>
                  <a:schemeClr val="accent1">
                    <a:lumMod val="75000"/>
                  </a:schemeClr>
                </a:solidFill>
                <a:latin typeface="Artifakt Element Book" panose="020B0503050000020004" pitchFamily="34" charset="0"/>
                <a:ea typeface="Artifakt Element Book" panose="020B0503050000020004" pitchFamily="34" charset="0"/>
              </a:rPr>
            </a:br>
            <a:r>
              <a:rPr lang="en-IN" sz="1600" dirty="0">
                <a:solidFill>
                  <a:schemeClr val="accent1">
                    <a:lumMod val="75000"/>
                  </a:schemeClr>
                </a:solidFill>
                <a:latin typeface="Artifakt Element Book" panose="020B0503050000020004" pitchFamily="34" charset="0"/>
                <a:ea typeface="Artifakt Element Book" panose="020B0503050000020004" pitchFamily="34" charset="0"/>
              </a:rPr>
              <a:t>Contact information is stored in files and retained after restarting the program.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accent1">
                    <a:lumMod val="50000"/>
                  </a:schemeClr>
                </a:solidFill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Data Backup &amp; Export</a:t>
            </a:r>
            <a:br>
              <a:rPr lang="en-IN" sz="1600" dirty="0">
                <a:solidFill>
                  <a:schemeClr val="accent1">
                    <a:lumMod val="75000"/>
                  </a:schemeClr>
                </a:solidFill>
                <a:latin typeface="Artifakt Element Book" panose="020B0503050000020004" pitchFamily="34" charset="0"/>
                <a:ea typeface="Artifakt Element Book" panose="020B0503050000020004" pitchFamily="34" charset="0"/>
              </a:rPr>
            </a:br>
            <a:r>
              <a:rPr lang="en-IN" sz="1600" dirty="0">
                <a:solidFill>
                  <a:schemeClr val="accent1">
                    <a:lumMod val="75000"/>
                  </a:schemeClr>
                </a:solidFill>
                <a:latin typeface="Artifakt Element Book" panose="020B0503050000020004" pitchFamily="34" charset="0"/>
                <a:ea typeface="Artifakt Element Book" panose="020B0503050000020004" pitchFamily="34" charset="0"/>
              </a:rPr>
              <a:t>Contact records can be backed up and exported in CSV format.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accent1">
                    <a:lumMod val="50000"/>
                  </a:schemeClr>
                </a:solidFill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Testing &amp; Validation </a:t>
            </a:r>
            <a:br>
              <a:rPr lang="en-IN" sz="1600" dirty="0">
                <a:solidFill>
                  <a:schemeClr val="accent1">
                    <a:lumMod val="75000"/>
                  </a:schemeClr>
                </a:solidFill>
                <a:latin typeface="Artifakt Element Book" panose="020B0503050000020004" pitchFamily="34" charset="0"/>
                <a:ea typeface="Artifakt Element Book" panose="020B0503050000020004" pitchFamily="34" charset="0"/>
              </a:rPr>
            </a:br>
            <a:r>
              <a:rPr lang="en-IN" sz="1600" dirty="0">
                <a:solidFill>
                  <a:schemeClr val="accent1">
                    <a:lumMod val="75000"/>
                  </a:schemeClr>
                </a:solidFill>
                <a:latin typeface="Artifakt Element Book" panose="020B0503050000020004" pitchFamily="34" charset="0"/>
                <a:ea typeface="Artifakt Element Book" panose="020B0503050000020004" pitchFamily="34" charset="0"/>
              </a:rPr>
              <a:t>Functional, invalid-input and duplicate-entry test cases were performed successfully.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accent1">
                    <a:lumMod val="50000"/>
                  </a:schemeClr>
                </a:solidFill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C++ Concepts Successfully Applied</a:t>
            </a:r>
            <a:br>
              <a:rPr lang="en-IN" sz="1600" dirty="0">
                <a:solidFill>
                  <a:schemeClr val="accent1">
                    <a:lumMod val="75000"/>
                  </a:schemeClr>
                </a:solidFill>
                <a:latin typeface="Artifakt Element Book" panose="020B0503050000020004" pitchFamily="34" charset="0"/>
                <a:ea typeface="Artifakt Element Book" panose="020B0503050000020004" pitchFamily="34" charset="0"/>
              </a:rPr>
            </a:br>
            <a:r>
              <a:rPr lang="en-IN" sz="1600" dirty="0">
                <a:solidFill>
                  <a:schemeClr val="accent1">
                    <a:lumMod val="75000"/>
                  </a:schemeClr>
                </a:solidFill>
                <a:latin typeface="Artifakt Element Book" panose="020B0503050000020004" pitchFamily="34" charset="0"/>
                <a:ea typeface="Artifakt Element Book" panose="020B0503050000020004" pitchFamily="34" charset="0"/>
              </a:rPr>
              <a:t>OOP, STL, file handling, strings, regular expressions, loops, conditions and switch-case were implemented.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DB61EC-4CCB-6BFA-6BA4-4D77EE350BCD}"/>
              </a:ext>
            </a:extLst>
          </p:cNvPr>
          <p:cNvSpPr txBox="1"/>
          <p:nvPr/>
        </p:nvSpPr>
        <p:spPr>
          <a:xfrm>
            <a:off x="3167782" y="5260533"/>
            <a:ext cx="62139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The Address Book System has been successfully implemented, tested and demonstrated as a functional C++ console application.</a:t>
            </a:r>
          </a:p>
        </p:txBody>
      </p:sp>
    </p:spTree>
    <p:extLst>
      <p:ext uri="{BB962C8B-B14F-4D97-AF65-F5344CB8AC3E}">
        <p14:creationId xmlns:p14="http://schemas.microsoft.com/office/powerpoint/2010/main" val="32283440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325B6E-EC04-4B38-1CA8-4B39846307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39EC6F-97AE-5AB9-12BA-B47BB56D69DB}"/>
              </a:ext>
            </a:extLst>
          </p:cNvPr>
          <p:cNvSpPr txBox="1"/>
          <p:nvPr/>
        </p:nvSpPr>
        <p:spPr>
          <a:xfrm>
            <a:off x="3359696" y="188640"/>
            <a:ext cx="6213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"/>
              </a:defRPr>
            </a:pPr>
            <a:r>
              <a:rPr lang="en-IN" sz="3200" dirty="0">
                <a:solidFill>
                  <a:schemeClr val="accent1">
                    <a:lumMod val="50000"/>
                  </a:schemeClr>
                </a:solidFill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CONCLUSION &amp; FUTURE SCOPE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9E3BFB6-22DF-1F60-443D-60B91FFDC3B1}"/>
              </a:ext>
            </a:extLst>
          </p:cNvPr>
          <p:cNvCxnSpPr>
            <a:cxnSpLocks/>
          </p:cNvCxnSpPr>
          <p:nvPr/>
        </p:nvCxnSpPr>
        <p:spPr>
          <a:xfrm>
            <a:off x="2927648" y="773415"/>
            <a:ext cx="7184557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592DAAB-6D14-9DAE-55CB-4576560B8ED4}"/>
              </a:ext>
            </a:extLst>
          </p:cNvPr>
          <p:cNvSpPr txBox="1"/>
          <p:nvPr/>
        </p:nvSpPr>
        <p:spPr>
          <a:xfrm>
            <a:off x="623392" y="1127357"/>
            <a:ext cx="62139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A4B4"/>
                </a:solidFill>
                <a:latin typeface="Aptos"/>
              </a:defRPr>
            </a:pPr>
            <a:r>
              <a:rPr lang="en-IN" sz="2400" dirty="0">
                <a:solidFill>
                  <a:schemeClr val="accent1">
                    <a:lumMod val="50000"/>
                  </a:schemeClr>
                </a:solidFill>
              </a:rPr>
              <a:t>CONCLUSION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BAD116-9CEF-E5F5-B36A-DA012CFD2895}"/>
              </a:ext>
            </a:extLst>
          </p:cNvPr>
          <p:cNvSpPr txBox="1"/>
          <p:nvPr/>
        </p:nvSpPr>
        <p:spPr>
          <a:xfrm>
            <a:off x="1119326" y="1628800"/>
            <a:ext cx="10801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Aptos"/>
              </a:defRPr>
            </a:pP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latin typeface="Artifakt Element Book" panose="020B0503050000020004" pitchFamily="34" charset="0"/>
                <a:ea typeface="Artifakt Element Book" panose="020B0503050000020004" pitchFamily="34" charset="0"/>
              </a:rPr>
              <a:t>The Address Book System provides an organized and efficient solution for managing contact information </a:t>
            </a:r>
          </a:p>
          <a:p>
            <a:pPr algn="ctr">
              <a:defRPr sz="1800" b="0">
                <a:solidFill>
                  <a:srgbClr val="FFFFFF"/>
                </a:solidFill>
                <a:latin typeface="Aptos"/>
              </a:defRPr>
            </a:pP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latin typeface="Artifakt Element Book" panose="020B0503050000020004" pitchFamily="34" charset="0"/>
                <a:ea typeface="Artifakt Element Book" panose="020B0503050000020004" pitchFamily="34" charset="0"/>
              </a:rPr>
              <a:t>while demonstrating practical C++ and Object-Oriented Programming concepts.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D73A34-838C-159A-7924-B6CF7F15E3C0}"/>
              </a:ext>
            </a:extLst>
          </p:cNvPr>
          <p:cNvSpPr txBox="1"/>
          <p:nvPr/>
        </p:nvSpPr>
        <p:spPr>
          <a:xfrm>
            <a:off x="623392" y="2967335"/>
            <a:ext cx="62139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A4B4"/>
                </a:solidFill>
                <a:latin typeface="Aptos"/>
              </a:defRPr>
            </a:pPr>
            <a:r>
              <a:rPr lang="en-IN" sz="2400" dirty="0">
                <a:solidFill>
                  <a:schemeClr val="accent1">
                    <a:lumMod val="50000"/>
                  </a:schemeClr>
                </a:solidFill>
              </a:rPr>
              <a:t>FUTURE SCOPE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CF6BD1-D4EF-7A61-704C-F256257BC6A9}"/>
              </a:ext>
            </a:extLst>
          </p:cNvPr>
          <p:cNvSpPr txBox="1"/>
          <p:nvPr/>
        </p:nvSpPr>
        <p:spPr>
          <a:xfrm>
            <a:off x="1600143" y="3574885"/>
            <a:ext cx="306789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DCE6F0"/>
                </a:solidFill>
                <a:latin typeface="Aptos"/>
              </a:defRPr>
            </a:pPr>
            <a:r>
              <a:rPr sz="2000" dirty="0">
                <a:solidFill>
                  <a:schemeClr val="accent1">
                    <a:lumMod val="75000"/>
                  </a:schemeClr>
                </a:solidFill>
              </a:rPr>
              <a:t>•  Graphical user interface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491F9-4711-593E-DE5A-E55EC8F1CC82}"/>
              </a:ext>
            </a:extLst>
          </p:cNvPr>
          <p:cNvSpPr txBox="1"/>
          <p:nvPr/>
        </p:nvSpPr>
        <p:spPr>
          <a:xfrm>
            <a:off x="1600143" y="4013797"/>
            <a:ext cx="271555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DCE6F0"/>
                </a:solidFill>
                <a:latin typeface="Aptos"/>
              </a:defRPr>
            </a:pPr>
            <a:r>
              <a:rPr sz="2000" dirty="0">
                <a:solidFill>
                  <a:schemeClr val="accent1">
                    <a:lumMod val="75000"/>
                  </a:schemeClr>
                </a:solidFill>
              </a:rPr>
              <a:t>•  Database integration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8C55CF-6B97-9346-7432-DE15A4E617B2}"/>
              </a:ext>
            </a:extLst>
          </p:cNvPr>
          <p:cNvSpPr txBox="1"/>
          <p:nvPr/>
        </p:nvSpPr>
        <p:spPr>
          <a:xfrm>
            <a:off x="1600143" y="4452709"/>
            <a:ext cx="351448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DCE6F0"/>
                </a:solidFill>
                <a:latin typeface="Aptos"/>
              </a:defRPr>
            </a:pPr>
            <a:r>
              <a:rPr sz="2000">
                <a:solidFill>
                  <a:schemeClr val="accent1">
                    <a:lumMod val="75000"/>
                  </a:schemeClr>
                </a:solidFill>
              </a:rPr>
              <a:t>•  Advanced multi-field search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5B09DDB-79BF-DB38-58BC-8B3F31A4377B}"/>
              </a:ext>
            </a:extLst>
          </p:cNvPr>
          <p:cNvSpPr txBox="1"/>
          <p:nvPr/>
        </p:nvSpPr>
        <p:spPr>
          <a:xfrm>
            <a:off x="1600143" y="4891621"/>
            <a:ext cx="437331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DCE6F0"/>
                </a:solidFill>
                <a:latin typeface="Aptos"/>
              </a:defRPr>
            </a:pPr>
            <a:r>
              <a:rPr sz="2000">
                <a:solidFill>
                  <a:schemeClr val="accent1">
                    <a:lumMod val="75000"/>
                  </a:schemeClr>
                </a:solidFill>
              </a:rPr>
              <a:t>•  Contact import and synchronization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A5C07A8-45EC-2117-EF3A-2FFFB7BA06D9}"/>
              </a:ext>
            </a:extLst>
          </p:cNvPr>
          <p:cNvSpPr txBox="1"/>
          <p:nvPr/>
        </p:nvSpPr>
        <p:spPr>
          <a:xfrm>
            <a:off x="1600143" y="5330533"/>
            <a:ext cx="351910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DCE6F0"/>
                </a:solidFill>
                <a:latin typeface="Aptos"/>
              </a:defRPr>
            </a:pPr>
            <a:r>
              <a:rPr sz="2000" dirty="0">
                <a:solidFill>
                  <a:schemeClr val="accent1">
                    <a:lumMod val="75000"/>
                  </a:schemeClr>
                </a:solidFill>
              </a:rPr>
              <a:t>•  Reminders and notifications</a:t>
            </a:r>
          </a:p>
        </p:txBody>
      </p:sp>
    </p:spTree>
    <p:extLst>
      <p:ext uri="{BB962C8B-B14F-4D97-AF65-F5344CB8AC3E}">
        <p14:creationId xmlns:p14="http://schemas.microsoft.com/office/powerpoint/2010/main" val="12035572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lide Number Placeholder 3"/>
          <p:cNvSpPr/>
          <p:nvPr/>
        </p:nvSpPr>
        <p:spPr>
          <a:xfrm>
            <a:off x="8609359" y="6356139"/>
            <a:ext cx="2742843" cy="36499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9988" tIns="46794" rIns="89988" bIns="46794" anchor="ctr">
            <a:noAutofit/>
          </a:bodyPr>
          <a:lstStyle/>
          <a:p>
            <a:pPr algn="r">
              <a:tabLst>
                <a:tab pos="0" algn="l"/>
                <a:tab pos="914309" algn="l"/>
                <a:tab pos="1828617" algn="l"/>
                <a:tab pos="2742926" algn="l"/>
                <a:tab pos="3657234" algn="l"/>
                <a:tab pos="4571543" algn="l"/>
                <a:tab pos="5485851" algn="l"/>
                <a:tab pos="6400160" algn="l"/>
                <a:tab pos="7314468" algn="l"/>
                <a:tab pos="8228777" algn="l"/>
                <a:tab pos="9143086" algn="l"/>
                <a:tab pos="10057394" algn="l"/>
              </a:tabLst>
            </a:pPr>
            <a:fld id="{46A50B66-3251-42E3-87CD-6FA4960BC9FB}" type="slidenum">
              <a:rPr lang="en-IN" sz="1200" spc="-1">
                <a:solidFill>
                  <a:srgbClr val="898989"/>
                </a:solidFill>
                <a:latin typeface="Arial"/>
              </a:rPr>
              <a:pPr algn="r">
                <a:tabLst>
                  <a:tab pos="0" algn="l"/>
                  <a:tab pos="914309" algn="l"/>
                  <a:tab pos="1828617" algn="l"/>
                  <a:tab pos="2742926" algn="l"/>
                  <a:tab pos="3657234" algn="l"/>
                  <a:tab pos="4571543" algn="l"/>
                  <a:tab pos="5485851" algn="l"/>
                  <a:tab pos="6400160" algn="l"/>
                  <a:tab pos="7314468" algn="l"/>
                  <a:tab pos="8228777" algn="l"/>
                  <a:tab pos="9143086" algn="l"/>
                  <a:tab pos="10057394" algn="l"/>
                </a:tabLst>
              </a:pPr>
              <a:t>18</a:t>
            </a:fld>
            <a:endParaRPr lang="en-US" sz="1200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0" name="Rectangle 1"/>
          <p:cNvPicPr/>
          <p:nvPr/>
        </p:nvPicPr>
        <p:blipFill>
          <a:blip r:embed="rId2"/>
          <a:stretch/>
        </p:blipFill>
        <p:spPr>
          <a:xfrm>
            <a:off x="2152520" y="3981528"/>
            <a:ext cx="7885493" cy="1206203"/>
          </a:xfrm>
          <a:prstGeom prst="rect">
            <a:avLst/>
          </a:prstGeom>
          <a:ln w="0">
            <a:noFill/>
          </a:ln>
        </p:spPr>
      </p:pic>
      <p:pic>
        <p:nvPicPr>
          <p:cNvPr id="141" name="Picture 6" descr="Kulanz kann dauerhaft zur Zahlung verpflichten » AGENTIN"/>
          <p:cNvPicPr/>
          <p:nvPr/>
        </p:nvPicPr>
        <p:blipFill>
          <a:blip r:embed="rId3"/>
          <a:srcRect b="21978"/>
          <a:stretch/>
        </p:blipFill>
        <p:spPr>
          <a:xfrm>
            <a:off x="3793546" y="1668829"/>
            <a:ext cx="4603081" cy="2387209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6881</TotalTime>
  <Words>1152</Words>
  <Application>Microsoft Office PowerPoint</Application>
  <PresentationFormat>Widescreen</PresentationFormat>
  <Paragraphs>269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Artifakt Element Book</vt:lpstr>
      <vt:lpstr>Artifakt Element Heavy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Nakshatra Chakram Chitturi</cp:lastModifiedBy>
  <cp:revision>715</cp:revision>
  <cp:lastPrinted>2023-06-09T04:58:36Z</cp:lastPrinted>
  <dcterms:created xsi:type="dcterms:W3CDTF">2019-12-14T03:50:52Z</dcterms:created>
  <dcterms:modified xsi:type="dcterms:W3CDTF">2026-10-04T12:42:46Z</dcterms:modified>
</cp:coreProperties>
</file>